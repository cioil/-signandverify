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9" r:id="rId1"/>
  </p:sldMasterIdLst>
  <p:notesMasterIdLst>
    <p:notesMasterId r:id="rId39"/>
  </p:notesMasterIdLst>
  <p:handoutMasterIdLst>
    <p:handoutMasterId r:id="rId40"/>
  </p:handoutMasterIdLst>
  <p:sldIdLst>
    <p:sldId id="256" r:id="rId2"/>
    <p:sldId id="316" r:id="rId3"/>
    <p:sldId id="314" r:id="rId4"/>
    <p:sldId id="318" r:id="rId5"/>
    <p:sldId id="315" r:id="rId6"/>
    <p:sldId id="289" r:id="rId7"/>
    <p:sldId id="290" r:id="rId8"/>
    <p:sldId id="291" r:id="rId9"/>
    <p:sldId id="292" r:id="rId10"/>
    <p:sldId id="293" r:id="rId11"/>
    <p:sldId id="294" r:id="rId12"/>
    <p:sldId id="295" r:id="rId13"/>
    <p:sldId id="296" r:id="rId14"/>
    <p:sldId id="297" r:id="rId15"/>
    <p:sldId id="298" r:id="rId16"/>
    <p:sldId id="299" r:id="rId17"/>
    <p:sldId id="300" r:id="rId18"/>
    <p:sldId id="301" r:id="rId19"/>
    <p:sldId id="302" r:id="rId20"/>
    <p:sldId id="303" r:id="rId21"/>
    <p:sldId id="304" r:id="rId22"/>
    <p:sldId id="305" r:id="rId23"/>
    <p:sldId id="306" r:id="rId24"/>
    <p:sldId id="307" r:id="rId25"/>
    <p:sldId id="308" r:id="rId26"/>
    <p:sldId id="309" r:id="rId27"/>
    <p:sldId id="310" r:id="rId28"/>
    <p:sldId id="311" r:id="rId29"/>
    <p:sldId id="312" r:id="rId30"/>
    <p:sldId id="313" r:id="rId31"/>
    <p:sldId id="324" r:id="rId32"/>
    <p:sldId id="319" r:id="rId33"/>
    <p:sldId id="320" r:id="rId34"/>
    <p:sldId id="321" r:id="rId35"/>
    <p:sldId id="322" r:id="rId36"/>
    <p:sldId id="323" r:id="rId37"/>
    <p:sldId id="317" r:id="rId38"/>
  </p:sldIdLst>
  <p:sldSz cx="9144000" cy="6858000" type="screen4x3"/>
  <p:notesSz cx="6858000" cy="9144000"/>
  <p:defaultTextStyle>
    <a:defPPr>
      <a:defRPr lang="he-IL"/>
    </a:defPPr>
    <a:lvl1pPr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Times New Roman (Hebrew)"/>
        <a:cs typeface="Times New Roman (Hebrew)"/>
      </a:defRPr>
    </a:lvl1pPr>
    <a:lvl2pPr marL="4572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Times New Roman (Hebrew)"/>
        <a:cs typeface="Times New Roman (Hebrew)"/>
      </a:defRPr>
    </a:lvl2pPr>
    <a:lvl3pPr marL="9144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Times New Roman (Hebrew)"/>
        <a:cs typeface="Times New Roman (Hebrew)"/>
      </a:defRPr>
    </a:lvl3pPr>
    <a:lvl4pPr marL="13716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Times New Roman (Hebrew)"/>
        <a:cs typeface="Times New Roman (Hebrew)"/>
      </a:defRPr>
    </a:lvl4pPr>
    <a:lvl5pPr marL="18288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Times New Roman (Hebrew)"/>
        <a:cs typeface="Times New Roman (Hebrew)"/>
      </a:defRPr>
    </a:lvl5pPr>
    <a:lvl6pPr marL="2286000" algn="r" defTabSz="914400" rtl="1" eaLnBrk="1" latinLnBrk="0" hangingPunct="1">
      <a:defRPr kern="1200">
        <a:solidFill>
          <a:schemeClr val="tx1"/>
        </a:solidFill>
        <a:latin typeface="Arial" pitchFamily="34" charset="0"/>
        <a:ea typeface="Times New Roman (Hebrew)"/>
        <a:cs typeface="Times New Roman (Hebrew)"/>
      </a:defRPr>
    </a:lvl6pPr>
    <a:lvl7pPr marL="2743200" algn="r" defTabSz="914400" rtl="1" eaLnBrk="1" latinLnBrk="0" hangingPunct="1">
      <a:defRPr kern="1200">
        <a:solidFill>
          <a:schemeClr val="tx1"/>
        </a:solidFill>
        <a:latin typeface="Arial" pitchFamily="34" charset="0"/>
        <a:ea typeface="Times New Roman (Hebrew)"/>
        <a:cs typeface="Times New Roman (Hebrew)"/>
      </a:defRPr>
    </a:lvl7pPr>
    <a:lvl8pPr marL="3200400" algn="r" defTabSz="914400" rtl="1" eaLnBrk="1" latinLnBrk="0" hangingPunct="1">
      <a:defRPr kern="1200">
        <a:solidFill>
          <a:schemeClr val="tx1"/>
        </a:solidFill>
        <a:latin typeface="Arial" pitchFamily="34" charset="0"/>
        <a:ea typeface="Times New Roman (Hebrew)"/>
        <a:cs typeface="Times New Roman (Hebrew)"/>
      </a:defRPr>
    </a:lvl8pPr>
    <a:lvl9pPr marL="3657600" algn="r" defTabSz="914400" rtl="1" eaLnBrk="1" latinLnBrk="0" hangingPunct="1">
      <a:defRPr kern="1200">
        <a:solidFill>
          <a:schemeClr val="tx1"/>
        </a:solidFill>
        <a:latin typeface="Arial" pitchFamily="34" charset="0"/>
        <a:ea typeface="Times New Roman (Hebrew)"/>
        <a:cs typeface="Times New Roman (Hebrew)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inimized" horzBarState="maximized">
    <p:restoredLeft sz="84380" autoAdjust="0"/>
    <p:restoredTop sz="94790" autoAdjust="0"/>
  </p:normalViewPr>
  <p:slideViewPr>
    <p:cSldViewPr>
      <p:cViewPr varScale="1">
        <p:scale>
          <a:sx n="78" d="100"/>
          <a:sy n="78" d="100"/>
        </p:scale>
        <p:origin x="750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"/>
          <p:cNvSpPr>
            <a:spLocks noGrp="1"/>
          </p:cNvSpPr>
          <p:nvPr>
            <p:ph type="hdr" sz="quarter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1" eaLnBrk="1" hangingPunct="1">
              <a:defRPr sz="1200">
                <a:latin typeface="Calibri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1588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>
                <a:latin typeface="Calibri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fld id="{B58E612A-C615-49BC-B4A4-7C9F61339F97}" type="datetime1">
              <a:rPr lang="he-IL"/>
              <a:pPr>
                <a:defRPr/>
              </a:pPr>
              <a:t>ז'/אייר/תשע"ה</a:t>
            </a:fld>
            <a:endParaRPr lang="he-IL"/>
          </a:p>
        </p:txBody>
      </p:sp>
      <p:sp>
        <p:nvSpPr>
          <p:cNvPr id="12292" name="Rectangle 3"/>
          <p:cNvSpPr>
            <a:spLocks noGrp="1"/>
          </p:cNvSpPr>
          <p:nvPr>
            <p:ph type="ftr" sz="quarter" idx="2"/>
          </p:nvPr>
        </p:nvSpPr>
        <p:spPr bwMode="auto">
          <a:xfrm>
            <a:off x="388620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1" eaLnBrk="1" hangingPunct="1">
              <a:defRPr sz="1200">
                <a:latin typeface="Calibri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1588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>
                <a:latin typeface="Calibri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fld id="{A35BDA5B-613D-4CEB-855D-B8D4C0CD514D}" type="slidenum">
              <a:rPr lang="he-IL"/>
              <a:pPr>
                <a:defRPr/>
              </a:pPr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334068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"/>
          <p:cNvSpPr>
            <a:spLocks noGrp="1"/>
          </p:cNvSpPr>
          <p:nvPr>
            <p:ph type="hdr" sz="quarter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1" eaLnBrk="1" hangingPunct="1">
              <a:defRPr sz="1200">
                <a:latin typeface="Calibri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>
                <a:latin typeface="Calibri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fld id="{5E320777-517B-4C73-B12A-B8990EF3F8D2}" type="datetimeFigureOut">
              <a:rPr lang="he-IL"/>
              <a:pPr>
                <a:defRPr/>
              </a:pPr>
              <a:t>ז'/אייר/תשע"ה</a:t>
            </a:fld>
            <a:endParaRPr lang="he-IL"/>
          </a:p>
        </p:txBody>
      </p:sp>
      <p:sp>
        <p:nvSpPr>
          <p:cNvPr id="22532" name="Rectangle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12700" algn="ctr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1270" name="Rectangle 5"/>
          <p:cNvSpPr>
            <a:spLocks noGrp="1"/>
          </p:cNvSpPr>
          <p:nvPr>
            <p:ph type="ftr" sz="quarter" idx="4"/>
          </p:nvPr>
        </p:nvSpPr>
        <p:spPr bwMode="auto">
          <a:xfrm>
            <a:off x="388620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1" eaLnBrk="1" hangingPunct="1">
              <a:defRPr sz="1200">
                <a:latin typeface="Calibri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>
                <a:latin typeface="Calibri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fld id="{9DEB3A4A-87D7-4C2A-BD42-D9D3EB18A6B4}" type="slidenum">
              <a:rPr lang="he-IL"/>
              <a:pPr>
                <a:defRPr/>
              </a:pPr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7309314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 Narrow" pitchFamily="34" charset="0"/>
        <a:ea typeface="Times New Roman (Hebrew)"/>
        <a:cs typeface="Times New Roman (Hebrew)"/>
      </a:defRPr>
    </a:lvl1pPr>
    <a:lvl2pPr marL="4572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 Narrow" pitchFamily="34" charset="0"/>
        <a:ea typeface="Times New Roman (Hebrew)"/>
        <a:cs typeface="Times New Roman (Hebrew)"/>
      </a:defRPr>
    </a:lvl2pPr>
    <a:lvl3pPr marL="9144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 Narrow" pitchFamily="34" charset="0"/>
        <a:ea typeface="Times New Roman (Hebrew)"/>
        <a:cs typeface="Times New Roman (Hebrew)"/>
      </a:defRPr>
    </a:lvl3pPr>
    <a:lvl4pPr marL="13716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 Narrow" pitchFamily="34" charset="0"/>
        <a:ea typeface="Times New Roman (Hebrew)"/>
        <a:cs typeface="Times New Roman (Hebrew)"/>
      </a:defRPr>
    </a:lvl4pPr>
    <a:lvl5pPr marL="18288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 Narrow" pitchFamily="34" charset="0"/>
        <a:ea typeface="Times New Roman (Hebrew)"/>
        <a:cs typeface="Times New Roman (Hebrew)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r>
              <a:rPr lang="he-IL" smtClean="0"/>
              <a:t>ממשל זמין – יום עיון טפסים </a:t>
            </a:r>
            <a:r>
              <a:rPr lang="en-US" smtClean="0"/>
              <a:t>Feb 2007</a:t>
            </a:r>
          </a:p>
        </p:txBody>
      </p:sp>
    </p:spTree>
    <p:extLst>
      <p:ext uri="{BB962C8B-B14F-4D97-AF65-F5344CB8AC3E}">
        <p14:creationId xmlns:p14="http://schemas.microsoft.com/office/powerpoint/2010/main" val="7896656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rtlCol="1"/>
          <a:lstStyle/>
          <a:p>
            <a:r>
              <a:rPr lang="en-US" smtClean="0"/>
              <a:t>Click to edit Master title style</a:t>
            </a:r>
            <a:endParaRPr lang="he-I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rtlCol="1"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he-IL"/>
          </a:p>
        </p:txBody>
      </p:sp>
      <p:sp>
        <p:nvSpPr>
          <p:cNvPr id="4" name="Rectangl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ea typeface="Times New Roman (Hebrew)"/>
                <a:cs typeface="Times New Roman (Hebrew)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5" name="Rectangl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ea typeface="Times New Roman (Hebrew)"/>
                <a:cs typeface="Times New Roman (Hebrew)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6" name="Rectangl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685997-2BD0-45EA-BD6A-E457FA2E9A62}" type="slidenum">
              <a:rPr lang="he-IL"/>
              <a:pPr>
                <a:defRPr/>
              </a:pPr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5852" y="1000108"/>
            <a:ext cx="7500990" cy="533400"/>
          </a:xfrm>
        </p:spPr>
        <p:txBody>
          <a:bodyPr rtlCol="1"/>
          <a:lstStyle>
            <a:lvl1pPr algn="l" rtl="0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1"/>
          <a:lstStyle>
            <a:lvl1pPr algn="l" rtl="0">
              <a:defRPr/>
            </a:lvl1pPr>
            <a:lvl2pPr algn="l" rtl="0">
              <a:defRPr/>
            </a:lvl2pPr>
            <a:lvl3pPr algn="l" rtl="0">
              <a:defRPr/>
            </a:lvl3pPr>
            <a:lvl4pPr algn="l" rtl="0">
              <a:defRPr/>
            </a:lvl4pPr>
            <a:lvl5pPr algn="l" rtl="0"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e-IL"/>
          </a:p>
        </p:txBody>
      </p:sp>
      <p:sp>
        <p:nvSpPr>
          <p:cNvPr id="4" name="Rectangl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ea typeface="Times New Roman (Hebrew)"/>
                <a:cs typeface="Times New Roman (Hebrew)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5" name="Rectangl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ea typeface="Times New Roman (Hebrew)"/>
                <a:cs typeface="Times New Roman (Hebrew)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6" name="Rectangl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62F9AD-F2F0-4973-8BD7-D8EFCCE8439D}" type="slidenum">
              <a:rPr lang="he-IL"/>
              <a:pPr>
                <a:defRPr/>
              </a:pPr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rtlCol="1" anchor="t"/>
          <a:lstStyle>
            <a:lvl1pPr algn="r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rtlCol="1"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ea typeface="Times New Roman (Hebrew)"/>
                <a:cs typeface="Times New Roman (Hebrew)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5" name="Rectangl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ea typeface="Times New Roman (Hebrew)"/>
                <a:cs typeface="Times New Roman (Hebrew)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6" name="Rectangl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F2A4AF-AAEC-4459-8C1E-6DBD4C790781}" type="slidenum">
              <a:rPr lang="he-IL"/>
              <a:pPr>
                <a:defRPr/>
              </a:pPr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1"/>
          <a:lstStyle/>
          <a:p>
            <a:r>
              <a:rPr lang="en-US" smtClean="0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76400"/>
            <a:ext cx="3886200" cy="4449763"/>
          </a:xfrm>
        </p:spPr>
        <p:txBody>
          <a:bodyPr rtlCol="1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e-I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3886200" cy="4449763"/>
          </a:xfrm>
        </p:spPr>
        <p:txBody>
          <a:bodyPr rtlCol="1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e-IL"/>
          </a:p>
        </p:txBody>
      </p:sp>
      <p:sp>
        <p:nvSpPr>
          <p:cNvPr id="5" name="Rectangl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ea typeface="Times New Roman (Hebrew)"/>
                <a:cs typeface="Times New Roman (Hebrew)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6" name="Rectangl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ea typeface="Times New Roman (Hebrew)"/>
                <a:cs typeface="Times New Roman (Hebrew)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6BCCF7-983E-4180-B778-3A84153E5242}" type="slidenum">
              <a:rPr lang="he-IL"/>
              <a:pPr>
                <a:defRPr/>
              </a:pPr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 rtlCol="1"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rtlCol="1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 rtlCol="1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e-I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rtlCol="1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 rtlCol="1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e-IL"/>
          </a:p>
        </p:txBody>
      </p:sp>
      <p:sp>
        <p:nvSpPr>
          <p:cNvPr id="7" name="Rectangl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ea typeface="Times New Roman (Hebrew)"/>
                <a:cs typeface="Times New Roman (Hebrew)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8" name="Rectangl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ea typeface="Times New Roman (Hebrew)"/>
                <a:cs typeface="Times New Roman (Hebrew)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9" name="Rectangl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5D2AAE-C69B-4BCB-A1C9-F739D38B3ED4}" type="slidenum">
              <a:rPr lang="he-IL"/>
              <a:pPr>
                <a:defRPr/>
              </a:pPr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1"/>
          <a:lstStyle/>
          <a:p>
            <a:r>
              <a:rPr lang="en-US" smtClean="0"/>
              <a:t>Click to edit Master title style</a:t>
            </a:r>
            <a:endParaRPr lang="he-IL"/>
          </a:p>
        </p:txBody>
      </p:sp>
      <p:sp>
        <p:nvSpPr>
          <p:cNvPr id="3" name="Rectangl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ea typeface="Times New Roman (Hebrew)"/>
                <a:cs typeface="Times New Roman (Hebrew)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4" name="Rectangl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ea typeface="Times New Roman (Hebrew)"/>
                <a:cs typeface="Times New Roman (Hebrew)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5" name="Rectangl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2DC1CD-7FDE-4EE1-AE05-5612CE402B04}" type="slidenum">
              <a:rPr lang="he-IL"/>
              <a:pPr>
                <a:defRPr/>
              </a:pPr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ea typeface="Times New Roman (Hebrew)"/>
                <a:cs typeface="Times New Roman (Hebrew)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3" name="Rectangl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ea typeface="Times New Roman (Hebrew)"/>
                <a:cs typeface="Times New Roman (Hebrew)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4" name="Rectangl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D92E14-565B-4909-B169-F962BEF94450}" type="slidenum">
              <a:rPr lang="he-IL"/>
              <a:pPr>
                <a:defRPr/>
              </a:pPr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rtlCol="1" anchor="b"/>
          <a:lstStyle>
            <a:lvl1pPr algn="r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 rtlCol="1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e-I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 rtlCol="1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ea typeface="Times New Roman (Hebrew)"/>
                <a:cs typeface="Times New Roman (Hebrew)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6" name="Rectangl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ea typeface="Times New Roman (Hebrew)"/>
                <a:cs typeface="Times New Roman (Hebrew)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D47702-C28B-4F56-A1EF-346802BA4326}" type="slidenum">
              <a:rPr lang="he-IL"/>
              <a:pPr>
                <a:defRPr/>
              </a:pPr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rtlCol="1" anchor="b"/>
          <a:lstStyle>
            <a:lvl1pPr algn="r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he-I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he-IL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 rtlCol="1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ea typeface="Times New Roman (Hebrew)"/>
                <a:cs typeface="Times New Roman (Hebrew)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6" name="Rectangl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ea typeface="Times New Roman (Hebrew)"/>
                <a:cs typeface="Times New Roman (Hebrew)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7C3CA9-0D89-445F-AF51-87ECE5DF10FC}" type="slidenum">
              <a:rPr lang="he-IL"/>
              <a:pPr>
                <a:defRPr/>
              </a:pPr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-27384"/>
            <a:ext cx="9144000" cy="1196752"/>
          </a:xfrm>
          <a:prstGeom prst="rect">
            <a:avLst/>
          </a:prstGeom>
          <a:solidFill>
            <a:srgbClr val="1A3B7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107504" y="6237312"/>
            <a:ext cx="1270475" cy="504056"/>
            <a:chOff x="107504" y="6237312"/>
            <a:chExt cx="1270475" cy="504056"/>
          </a:xfrm>
        </p:grpSpPr>
        <p:pic>
          <p:nvPicPr>
            <p:cNvPr id="8" name="Picture 1"/>
            <p:cNvPicPr>
              <a:picLocks noChangeAspect="1" noChangeArrowheads="1"/>
            </p:cNvPicPr>
            <p:nvPr/>
          </p:nvPicPr>
          <p:blipFill>
            <a:blip r:embed="rId2" cstate="print">
              <a:clrChange>
                <a:clrFrom>
                  <a:srgbClr val="F9FFFB"/>
                </a:clrFrom>
                <a:clrTo>
                  <a:srgbClr val="F9FFFB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07504" y="6296282"/>
              <a:ext cx="454557" cy="4450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" name="Picture 8" descr="http://a8.sphotos.ak.fbcdn.net/hphotos-ak-snc6/248360_223993990945947_121660137846000_910174_1577451_n.jp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611560" y="6237312"/>
              <a:ext cx="766419" cy="498173"/>
            </a:xfrm>
            <a:prstGeom prst="rect">
              <a:avLst/>
            </a:prstGeom>
            <a:noFill/>
          </p:spPr>
        </p:pic>
      </p:grpSp>
      <p:sp>
        <p:nvSpPr>
          <p:cNvPr id="14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285720" y="71421"/>
            <a:ext cx="8429652" cy="1071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lang="en-US" sz="44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he-IL" dirty="0" smtClean="0"/>
              <a:t>כותרת דף תוכן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2"/>
          </p:nvPr>
        </p:nvSpPr>
        <p:spPr>
          <a:xfrm>
            <a:off x="323527" y="1484784"/>
            <a:ext cx="8425185" cy="4465166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  <a:lvl2pPr>
              <a:defRPr>
                <a:latin typeface="Arial" pitchFamily="34" charset="0"/>
                <a:cs typeface="Arial" pitchFamily="34" charset="0"/>
              </a:defRPr>
            </a:lvl2pPr>
            <a:lvl3pPr>
              <a:defRPr>
                <a:latin typeface="Arial" pitchFamily="34" charset="0"/>
                <a:cs typeface="Arial" pitchFamily="34" charset="0"/>
              </a:defRPr>
            </a:lvl3pPr>
            <a:lvl4pPr>
              <a:defRPr>
                <a:latin typeface="Arial" pitchFamily="34" charset="0"/>
                <a:cs typeface="Arial" pitchFamily="34" charset="0"/>
              </a:defRPr>
            </a:lvl4pPr>
            <a:lvl5pPr>
              <a:defRPr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4105887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025"/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990600"/>
            <a:ext cx="82296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he-IL" smtClean="0"/>
              <a:t>סגנון כותרת של תבנית בסיס</a:t>
            </a:r>
          </a:p>
        </p:txBody>
      </p:sp>
      <p:sp>
        <p:nvSpPr>
          <p:cNvPr id="2051" name="Rectangle 1026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76400"/>
            <a:ext cx="7924800" cy="4449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</a:p>
        </p:txBody>
      </p:sp>
      <p:sp>
        <p:nvSpPr>
          <p:cNvPr id="1028" name="Date Placeholder 102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 sz="1400"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Footer Placeholder 102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1" eaLnBrk="1" hangingPunct="1">
              <a:defRPr sz="1400"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Slide Number Placeholder 102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1" eaLnBrk="1" hangingPunct="1">
              <a:defRPr sz="1400"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4AFA58A2-7F4D-4F2B-ABC7-7CFEA5083262}" type="slidenum">
              <a:rPr lang="he-IL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31" name="TextBox 1030"/>
          <p:cNvSpPr txBox="1">
            <a:spLocks noChangeArrowheads="1"/>
          </p:cNvSpPr>
          <p:nvPr/>
        </p:nvSpPr>
        <p:spPr bwMode="auto">
          <a:xfrm>
            <a:off x="76200" y="6553200"/>
            <a:ext cx="369888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fld id="{F5E26712-20B3-4C3F-8FA3-A04C7A1E8C07}" type="slidenum">
              <a:rPr lang="he-IL" sz="1200">
                <a:ea typeface="+mn-ea"/>
                <a:cs typeface="Arial" pitchFamily="34" charset="0"/>
              </a:rPr>
              <a:pPr>
                <a:defRPr/>
              </a:pPr>
              <a:t>‹#›</a:t>
            </a:fld>
            <a:endParaRPr lang="en-US" sz="1200">
              <a:ea typeface="+mn-ea"/>
              <a:cs typeface="Arial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</p:sldLayoutIdLst>
  <p:txStyles>
    <p:titleStyle>
      <a:lvl1pPr marL="342900" indent="-342900" algn="r" defTabSz="-13873163" rtl="1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Times New Roman (Hebrew)"/>
          <a:cs typeface="+mj-cs"/>
        </a:defRPr>
      </a:lvl1pPr>
      <a:lvl2pPr marL="342900" indent="-342900" algn="r" defTabSz="-13873163" rtl="1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 Black"/>
          <a:ea typeface="Times New Roman (Hebrew)"/>
          <a:cs typeface="Times New Roman (Hebrew)"/>
        </a:defRPr>
      </a:lvl2pPr>
      <a:lvl3pPr marL="342900" indent="-342900" algn="r" defTabSz="-13873163" rtl="1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 Black"/>
          <a:ea typeface="Times New Roman (Hebrew)"/>
          <a:cs typeface="Times New Roman (Hebrew)"/>
        </a:defRPr>
      </a:lvl3pPr>
      <a:lvl4pPr marL="342900" indent="-342900" algn="r" defTabSz="-13873163" rtl="1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 Black"/>
          <a:ea typeface="Times New Roman (Hebrew)"/>
          <a:cs typeface="Times New Roman (Hebrew)"/>
        </a:defRPr>
      </a:lvl4pPr>
      <a:lvl5pPr marL="342900" indent="-342900" algn="r" defTabSz="-13873163" rtl="1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 Black"/>
          <a:ea typeface="Times New Roman (Hebrew)"/>
          <a:cs typeface="Times New Roman (Hebrew)"/>
        </a:defRPr>
      </a:lvl5pPr>
      <a:lvl6pPr marL="457200" algn="r" rtl="1" eaLnBrk="1" fontAlgn="base" hangingPunct="1">
        <a:spcBef>
          <a:spcPct val="0"/>
        </a:spcBef>
        <a:spcAft>
          <a:spcPct val="0"/>
        </a:spcAft>
        <a:tabLst>
          <a:tab pos="3141663" algn="l"/>
        </a:tabLst>
        <a:defRPr sz="3200" b="1">
          <a:solidFill>
            <a:schemeClr val="bg1">
              <a:alpha val="100000"/>
            </a:schemeClr>
          </a:solidFill>
          <a:latin typeface="Arial Black"/>
          <a:cs typeface="Times New Roman (Hebrew)"/>
        </a:defRPr>
      </a:lvl6pPr>
      <a:lvl7pPr marL="914400" algn="r" rtl="1" eaLnBrk="1" fontAlgn="base" hangingPunct="1">
        <a:spcBef>
          <a:spcPct val="0"/>
        </a:spcBef>
        <a:spcAft>
          <a:spcPct val="0"/>
        </a:spcAft>
        <a:tabLst>
          <a:tab pos="3141663" algn="l"/>
        </a:tabLst>
        <a:defRPr sz="3200" b="1">
          <a:solidFill>
            <a:schemeClr val="bg1">
              <a:alpha val="100000"/>
            </a:schemeClr>
          </a:solidFill>
          <a:latin typeface="Arial Black"/>
          <a:cs typeface="Times New Roman (Hebrew)"/>
        </a:defRPr>
      </a:lvl7pPr>
      <a:lvl8pPr marL="1371600" algn="r" rtl="1" eaLnBrk="1" fontAlgn="base" hangingPunct="1">
        <a:spcBef>
          <a:spcPct val="0"/>
        </a:spcBef>
        <a:spcAft>
          <a:spcPct val="0"/>
        </a:spcAft>
        <a:tabLst>
          <a:tab pos="3141663" algn="l"/>
        </a:tabLst>
        <a:defRPr sz="3200" b="1">
          <a:solidFill>
            <a:schemeClr val="bg1">
              <a:alpha val="100000"/>
            </a:schemeClr>
          </a:solidFill>
          <a:latin typeface="Arial Black"/>
          <a:cs typeface="Times New Roman (Hebrew)"/>
        </a:defRPr>
      </a:lvl8pPr>
      <a:lvl9pPr marL="1828800" algn="r" rtl="1" eaLnBrk="1" fontAlgn="base" hangingPunct="1">
        <a:spcBef>
          <a:spcPct val="0"/>
        </a:spcBef>
        <a:spcAft>
          <a:spcPct val="0"/>
        </a:spcAft>
        <a:tabLst>
          <a:tab pos="3141663" algn="l"/>
        </a:tabLst>
        <a:defRPr sz="3200" b="1">
          <a:solidFill>
            <a:schemeClr val="bg1">
              <a:alpha val="100000"/>
            </a:schemeClr>
          </a:solidFill>
          <a:latin typeface="Arial Black"/>
          <a:cs typeface="Times New Roman (Hebrew)"/>
        </a:defRPr>
      </a:lvl9pPr>
    </p:titleStyle>
    <p:bodyStyle>
      <a:lvl1pPr marL="342900" indent="-342900" algn="r" defTabSz="-13873163" rtl="1" eaLnBrk="1" fontAlgn="base" hangingPunct="1">
        <a:spcBef>
          <a:spcPct val="20000"/>
        </a:spcBef>
        <a:spcAft>
          <a:spcPct val="0"/>
        </a:spcAft>
        <a:buBlip>
          <a:blip r:embed="rId13"/>
        </a:buBlip>
        <a:defRPr sz="3200">
          <a:solidFill>
            <a:srgbClr val="003366"/>
          </a:solidFill>
          <a:latin typeface="+mn-lt"/>
          <a:ea typeface="Times New Roman (Hebrew)"/>
          <a:cs typeface="+mn-cs"/>
        </a:defRPr>
      </a:lvl1pPr>
      <a:lvl2pPr marL="742950" indent="-285750" algn="r" defTabSz="-13873163" rtl="1" eaLnBrk="1" fontAlgn="base" hangingPunct="1">
        <a:spcBef>
          <a:spcPct val="20000"/>
        </a:spcBef>
        <a:spcAft>
          <a:spcPct val="0"/>
        </a:spcAft>
        <a:buSzPct val="70000"/>
        <a:buBlip>
          <a:blip r:embed="rId14"/>
        </a:buBlip>
        <a:defRPr sz="2800">
          <a:solidFill>
            <a:srgbClr val="003366"/>
          </a:solidFill>
          <a:latin typeface="Arial"/>
          <a:ea typeface="Times New Roman (Hebrew)"/>
          <a:cs typeface="Arial"/>
        </a:defRPr>
      </a:lvl2pPr>
      <a:lvl3pPr marL="1143000" indent="-228600" algn="r" defTabSz="-13873163" rtl="1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rgbClr val="003366"/>
          </a:solidFill>
          <a:latin typeface="Arial"/>
          <a:ea typeface="Times New Roman (Hebrew)"/>
          <a:cs typeface="Arial"/>
        </a:defRPr>
      </a:lvl3pPr>
      <a:lvl4pPr marL="1600200" indent="-228600" algn="r" defTabSz="-13873163" rtl="1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rgbClr val="003366"/>
          </a:solidFill>
          <a:latin typeface="Arial"/>
          <a:ea typeface="Times New Roman (Hebrew)"/>
          <a:cs typeface="Arial"/>
        </a:defRPr>
      </a:lvl4pPr>
      <a:lvl5pPr marL="2057400" indent="-228600" algn="r" defTabSz="-13873163" rtl="1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03366"/>
          </a:solidFill>
          <a:latin typeface="Arial"/>
          <a:ea typeface="Times New Roman (Hebrew)"/>
          <a:cs typeface="Arial"/>
        </a:defRPr>
      </a:lvl5pPr>
      <a:lvl6pPr marL="2514600" indent="-228600" algn="r" rtl="1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03366">
              <a:alpha val="100000"/>
            </a:srgbClr>
          </a:solidFill>
          <a:latin typeface="Arial"/>
          <a:cs typeface="Arial"/>
        </a:defRPr>
      </a:lvl6pPr>
      <a:lvl7pPr marL="2971800" indent="-228600" algn="r" rtl="1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03366">
              <a:alpha val="100000"/>
            </a:srgbClr>
          </a:solidFill>
          <a:latin typeface="Arial"/>
          <a:cs typeface="Arial"/>
        </a:defRPr>
      </a:lvl7pPr>
      <a:lvl8pPr marL="3429000" indent="-228600" algn="r" rtl="1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03366">
              <a:alpha val="100000"/>
            </a:srgbClr>
          </a:solidFill>
          <a:latin typeface="Arial"/>
          <a:cs typeface="Arial"/>
        </a:defRPr>
      </a:lvl8pPr>
      <a:lvl9pPr marL="3886200" indent="-228600" algn="r" rtl="1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03366">
              <a:alpha val="100000"/>
            </a:srgbClr>
          </a:solidFill>
          <a:latin typeface="Arial"/>
          <a:cs typeface="Arial"/>
        </a:defRPr>
      </a:lvl9pPr>
    </p:bodyStyle>
    <p:otherStyle>
      <a:lvl1pPr algn="r" rtl="1" eaLnBrk="1" fontAlgn="base" hangingPunct="1">
        <a:spcBef>
          <a:spcPct val="0"/>
        </a:spcBef>
        <a:spcAft>
          <a:spcPct val="0"/>
        </a:spcAft>
        <a:defRPr>
          <a:solidFill>
            <a:schemeClr val="tx1">
              <a:alpha val="100000"/>
            </a:schemeClr>
          </a:solidFill>
          <a:latin typeface="Arial"/>
        </a:defRPr>
      </a:lvl1pPr>
      <a:lvl2pPr marL="457200" algn="r" rtl="1" eaLnBrk="1" fontAlgn="base" hangingPunct="1">
        <a:spcBef>
          <a:spcPct val="0"/>
        </a:spcBef>
        <a:spcAft>
          <a:spcPct val="0"/>
        </a:spcAft>
        <a:defRPr>
          <a:solidFill>
            <a:schemeClr val="tx1">
              <a:alpha val="100000"/>
            </a:schemeClr>
          </a:solidFill>
          <a:latin typeface="Arial"/>
        </a:defRPr>
      </a:lvl2pPr>
      <a:lvl3pPr marL="914400" algn="r" rtl="1" eaLnBrk="1" fontAlgn="base" hangingPunct="1">
        <a:spcBef>
          <a:spcPct val="0"/>
        </a:spcBef>
        <a:spcAft>
          <a:spcPct val="0"/>
        </a:spcAft>
        <a:defRPr>
          <a:solidFill>
            <a:schemeClr val="tx1">
              <a:alpha val="100000"/>
            </a:schemeClr>
          </a:solidFill>
          <a:latin typeface="Arial"/>
        </a:defRPr>
      </a:lvl3pPr>
      <a:lvl4pPr marL="1371600" algn="r" rtl="1" eaLnBrk="1" fontAlgn="base" hangingPunct="1">
        <a:spcBef>
          <a:spcPct val="0"/>
        </a:spcBef>
        <a:spcAft>
          <a:spcPct val="0"/>
        </a:spcAft>
        <a:defRPr>
          <a:solidFill>
            <a:schemeClr val="tx1">
              <a:alpha val="100000"/>
            </a:schemeClr>
          </a:solidFill>
          <a:latin typeface="Arial"/>
        </a:defRPr>
      </a:lvl4pPr>
      <a:lvl5pPr marL="1828800" algn="r" rtl="1" eaLnBrk="1" fontAlgn="base" hangingPunct="1">
        <a:spcBef>
          <a:spcPct val="0"/>
        </a:spcBef>
        <a:spcAft>
          <a:spcPct val="0"/>
        </a:spcAft>
        <a:defRPr>
          <a:solidFill>
            <a:schemeClr val="tx1">
              <a:alpha val="100000"/>
            </a:schemeClr>
          </a:solidFill>
          <a:latin typeface="Arial"/>
        </a:defRPr>
      </a:lvl5pPr>
      <a:lvl6pPr marL="2286000" algn="r" rtl="1" eaLnBrk="1" fontAlgn="base" hangingPunct="1">
        <a:spcBef>
          <a:spcPct val="0"/>
        </a:spcBef>
        <a:spcAft>
          <a:spcPct val="0"/>
        </a:spcAft>
        <a:defRPr>
          <a:solidFill>
            <a:schemeClr val="tx1">
              <a:alpha val="100000"/>
            </a:schemeClr>
          </a:solidFill>
          <a:latin typeface="Arial"/>
        </a:defRPr>
      </a:lvl6pPr>
      <a:lvl7pPr marL="2743200" algn="r" rtl="1" eaLnBrk="1" fontAlgn="base" hangingPunct="1">
        <a:spcBef>
          <a:spcPct val="0"/>
        </a:spcBef>
        <a:spcAft>
          <a:spcPct val="0"/>
        </a:spcAft>
        <a:defRPr>
          <a:solidFill>
            <a:schemeClr val="tx1">
              <a:alpha val="100000"/>
            </a:schemeClr>
          </a:solidFill>
          <a:latin typeface="Arial"/>
        </a:defRPr>
      </a:lvl7pPr>
      <a:lvl8pPr marL="3200400" algn="r" rtl="1" eaLnBrk="1" fontAlgn="base" hangingPunct="1">
        <a:spcBef>
          <a:spcPct val="0"/>
        </a:spcBef>
        <a:spcAft>
          <a:spcPct val="0"/>
        </a:spcAft>
        <a:defRPr>
          <a:solidFill>
            <a:schemeClr val="tx1">
              <a:alpha val="100000"/>
            </a:schemeClr>
          </a:solidFill>
          <a:latin typeface="Arial"/>
        </a:defRPr>
      </a:lvl8pPr>
      <a:lvl9pPr marL="3657600" algn="r" rtl="1" eaLnBrk="1" fontAlgn="base" hangingPunct="1">
        <a:spcBef>
          <a:spcPct val="0"/>
        </a:spcBef>
        <a:spcAft>
          <a:spcPct val="0"/>
        </a:spcAft>
        <a:defRPr>
          <a:solidFill>
            <a:schemeClr val="tx1">
              <a:alpha val="100000"/>
            </a:schemeClr>
          </a:solidFill>
          <a:latin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://forms.gov.il/download/SignVerify.SDK.msi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3"/>
          <p:cNvSpPr txBox="1">
            <a:spLocks noChangeArrowheads="1"/>
          </p:cNvSpPr>
          <p:nvPr/>
        </p:nvSpPr>
        <p:spPr bwMode="auto">
          <a:xfrm>
            <a:off x="1357290" y="4429132"/>
            <a:ext cx="6911975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4000" b="1" dirty="0" err="1" smtClean="0">
                <a:solidFill>
                  <a:srgbClr val="000000"/>
                </a:solidFill>
                <a:latin typeface="Tahoma" pitchFamily="34" charset="0"/>
                <a:cs typeface="Tahoma" pitchFamily="34" charset="0"/>
              </a:rPr>
              <a:t>Sign&amp;Verify</a:t>
            </a:r>
            <a:r>
              <a:rPr lang="en-US" sz="4000" b="1" dirty="0" smtClean="0">
                <a:solidFill>
                  <a:srgbClr val="000000"/>
                </a:solidFill>
                <a:latin typeface="Tahoma" pitchFamily="34" charset="0"/>
                <a:cs typeface="Tahoma" pitchFamily="34" charset="0"/>
              </a:rPr>
              <a:t> SDK</a:t>
            </a:r>
          </a:p>
          <a:p>
            <a:pPr algn="ctr"/>
            <a:r>
              <a:rPr lang="he-IL" sz="4000" b="1" dirty="0" smtClean="0">
                <a:solidFill>
                  <a:srgbClr val="000000"/>
                </a:solidFill>
                <a:latin typeface="Tahoma" pitchFamily="34" charset="0"/>
                <a:cs typeface="Tahoma" pitchFamily="34" charset="0"/>
              </a:rPr>
              <a:t>הדרכת </a:t>
            </a:r>
            <a:r>
              <a:rPr lang="he-IL" sz="4000" b="1" dirty="0" smtClean="0">
                <a:solidFill>
                  <a:srgbClr val="000000"/>
                </a:solidFill>
                <a:latin typeface="Tahoma" pitchFamily="34" charset="0"/>
                <a:cs typeface="Tahoma" pitchFamily="34" charset="0"/>
              </a:rPr>
              <a:t>מפתחים</a:t>
            </a:r>
            <a:endParaRPr lang="en-US" sz="4000" b="1" dirty="0" smtClean="0">
              <a:solidFill>
                <a:srgbClr val="000000"/>
              </a:solidFill>
              <a:latin typeface="Tahoma" pitchFamily="34" charset="0"/>
              <a:cs typeface="Tahoma" pitchFamily="34" charset="0"/>
            </a:endParaRPr>
          </a:p>
          <a:p>
            <a:pPr algn="ctr"/>
            <a:r>
              <a:rPr lang="en-US" sz="4000" b="1" dirty="0" smtClean="0">
                <a:solidFill>
                  <a:srgbClr val="000000"/>
                </a:solidFill>
                <a:latin typeface="Tahoma" pitchFamily="34" charset="0"/>
                <a:cs typeface="Tahoma" pitchFamily="34" charset="0"/>
              </a:rPr>
              <a:t>V3.0</a:t>
            </a:r>
            <a:endParaRPr lang="he-IL" sz="4000" b="1" dirty="0">
              <a:solidFill>
                <a:srgbClr val="000000"/>
              </a:solidFill>
              <a:latin typeface="Tahoma" pitchFamily="34" charset="0"/>
              <a:cs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 smtClean="0"/>
              <a:t>תוכן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dirty="0" smtClean="0"/>
              <a:t>רקע</a:t>
            </a:r>
          </a:p>
          <a:p>
            <a:pPr algn="r" rtl="1"/>
            <a:r>
              <a:rPr lang="he-IL" dirty="0" smtClean="0"/>
              <a:t>מבוא לחתימה דיגיטאלית</a:t>
            </a:r>
          </a:p>
          <a:p>
            <a:pPr algn="r" rtl="1"/>
            <a:r>
              <a:rPr lang="he-IL" dirty="0" smtClean="0"/>
              <a:t>התקנת ה </a:t>
            </a:r>
            <a:r>
              <a:rPr lang="en-US" dirty="0" smtClean="0"/>
              <a:t>SDK</a:t>
            </a:r>
            <a:endParaRPr lang="he-IL" dirty="0" smtClean="0"/>
          </a:p>
          <a:p>
            <a:pPr algn="r" rtl="1"/>
            <a:r>
              <a:rPr lang="he-IL" dirty="0" smtClean="0"/>
              <a:t>ארכיטקטורה כללית</a:t>
            </a:r>
          </a:p>
          <a:p>
            <a:pPr algn="r" rtl="1"/>
            <a:r>
              <a:rPr lang="he-IL" dirty="0" smtClean="0"/>
              <a:t>מעבר על דוגמאות קוד</a:t>
            </a:r>
          </a:p>
          <a:p>
            <a:pPr algn="r" rtl="1"/>
            <a:endParaRPr lang="he-IL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2976" y="1000108"/>
            <a:ext cx="7429552" cy="533400"/>
          </a:xfrm>
        </p:spPr>
        <p:txBody>
          <a:bodyPr/>
          <a:lstStyle/>
          <a:p>
            <a:pPr algn="r" rtl="1"/>
            <a:r>
              <a:rPr lang="he-IL" dirty="0" smtClean="0"/>
              <a:t>רקע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dirty="0" smtClean="0"/>
              <a:t>תוכנת </a:t>
            </a:r>
            <a:r>
              <a:rPr lang="en-US" dirty="0" err="1" smtClean="0"/>
              <a:t>Sign&amp;verify</a:t>
            </a:r>
            <a:r>
              <a:rPr lang="he-IL" dirty="0" smtClean="0"/>
              <a:t> פותחה בממשל זמין לפני מספר שנים ( 6</a:t>
            </a:r>
            <a:r>
              <a:rPr lang="en-US" dirty="0" smtClean="0"/>
              <a:t>VB</a:t>
            </a:r>
            <a:r>
              <a:rPr lang="he-IL" dirty="0" smtClean="0"/>
              <a:t> )</a:t>
            </a:r>
          </a:p>
          <a:p>
            <a:pPr algn="r" rtl="1"/>
            <a:r>
              <a:rPr lang="he-IL" dirty="0" smtClean="0"/>
              <a:t>החתימה אפשרית על ידי ממשק משתמש או באמצעות קוד.</a:t>
            </a:r>
          </a:p>
          <a:p>
            <a:pPr algn="r" rtl="1"/>
            <a:r>
              <a:rPr lang="he-IL" dirty="0" smtClean="0"/>
              <a:t>להפעלה מקוד הוכן רכיב </a:t>
            </a:r>
            <a:r>
              <a:rPr lang="en-US" dirty="0" err="1" smtClean="0"/>
              <a:t>CapicomHandler</a:t>
            </a:r>
            <a:r>
              <a:rPr lang="he-IL" dirty="0" smtClean="0"/>
              <a:t> אשר ממש  חתימה ונותן </a:t>
            </a:r>
            <a:r>
              <a:rPr lang="he-IL" dirty="0" err="1" smtClean="0"/>
              <a:t>שרותים</a:t>
            </a:r>
            <a:r>
              <a:rPr lang="he-IL" dirty="0" smtClean="0"/>
              <a:t> מתאימים.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 smtClean="0"/>
              <a:t>רקע- </a:t>
            </a:r>
            <a:r>
              <a:rPr lang="he-IL" sz="2400" dirty="0" smtClean="0"/>
              <a:t>המשך</a:t>
            </a:r>
            <a:endParaRPr lang="he-IL" dirty="0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42844" y="2786058"/>
            <a:ext cx="4429156" cy="35420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609600" y="1676400"/>
            <a:ext cx="7924800" cy="4449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r" defTabSz="-13873163" rtl="1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Blip>
                <a:blip r:embed="rId3"/>
              </a:buBlip>
              <a:tabLst/>
              <a:defRPr/>
            </a:pPr>
            <a:endParaRPr kumimoji="0" lang="he-IL" sz="3200" b="0" i="0" u="none" strike="noStrike" kern="0" cap="none" spc="0" normalizeH="0" baseline="0" noProof="0" dirty="0" smtClean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+mn-lt"/>
              <a:ea typeface="Times New Roman (Hebrew)"/>
              <a:cs typeface="+mn-cs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762000" y="1828800"/>
            <a:ext cx="7924800" cy="4449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r" defTabSz="-13873163" rtl="1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Blip>
                <a:blip r:embed="rId3"/>
              </a:buBlip>
              <a:tabLst/>
              <a:defRPr/>
            </a:pPr>
            <a:r>
              <a:rPr kumimoji="0" lang="he-IL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+mn-lt"/>
                <a:ea typeface="Times New Roman (Hebrew)"/>
                <a:cs typeface="+mn-cs"/>
              </a:rPr>
              <a:t>לפני למעלה משנה פותחה גרסת </a:t>
            </a:r>
            <a:r>
              <a:rPr kumimoji="0" lang="en-US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+mn-lt"/>
                <a:ea typeface="Times New Roman (Hebrew)"/>
                <a:cs typeface="+mn-cs"/>
              </a:rPr>
              <a:t>Sign&amp;Verify</a:t>
            </a: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+mn-lt"/>
                <a:ea typeface="Times New Roman (Hebrew)"/>
                <a:cs typeface="+mn-cs"/>
              </a:rPr>
              <a:t> </a:t>
            </a:r>
            <a:r>
              <a:rPr kumimoji="0" lang="he-IL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+mn-lt"/>
                <a:ea typeface="Times New Roman (Hebrew)"/>
                <a:cs typeface="+mn-cs"/>
              </a:rPr>
              <a:t>חדשה</a:t>
            </a:r>
          </a:p>
          <a:p>
            <a:pPr marL="342900" indent="-342900" defTabSz="-13873163">
              <a:spcBef>
                <a:spcPct val="20000"/>
              </a:spcBef>
              <a:buBlip>
                <a:blip r:embed="rId3"/>
              </a:buBlip>
            </a:pPr>
            <a:r>
              <a:rPr lang="he-IL" sz="3200" kern="0" dirty="0" smtClean="0">
                <a:solidFill>
                  <a:srgbClr val="003366"/>
                </a:solidFill>
                <a:latin typeface="+mn-lt"/>
                <a:cs typeface="+mn-cs"/>
              </a:rPr>
              <a:t>את ה  </a:t>
            </a:r>
            <a:r>
              <a:rPr lang="en-US" sz="3200" kern="0" dirty="0" err="1" smtClean="0">
                <a:solidFill>
                  <a:srgbClr val="003366"/>
                </a:solidFill>
                <a:latin typeface="+mn-lt"/>
                <a:cs typeface="+mn-cs"/>
              </a:rPr>
              <a:t>CapicomHandler</a:t>
            </a:r>
            <a:r>
              <a:rPr lang="he-IL" sz="3200" kern="0" dirty="0" smtClean="0">
                <a:solidFill>
                  <a:srgbClr val="003366"/>
                </a:solidFill>
                <a:latin typeface="+mn-lt"/>
                <a:cs typeface="+mn-cs"/>
              </a:rPr>
              <a:t> </a:t>
            </a:r>
            <a:r>
              <a:rPr lang="en-US" sz="3200" kern="0" dirty="0" smtClean="0">
                <a:solidFill>
                  <a:srgbClr val="003366"/>
                </a:solidFill>
                <a:latin typeface="+mn-lt"/>
                <a:cs typeface="+mn-cs"/>
              </a:rPr>
              <a:t/>
            </a:r>
            <a:br>
              <a:rPr lang="en-US" sz="3200" kern="0" dirty="0" smtClean="0">
                <a:solidFill>
                  <a:srgbClr val="003366"/>
                </a:solidFill>
                <a:latin typeface="+mn-lt"/>
                <a:cs typeface="+mn-cs"/>
              </a:rPr>
            </a:br>
            <a:r>
              <a:rPr lang="he-IL" sz="3200" kern="0" dirty="0" smtClean="0">
                <a:solidFill>
                  <a:srgbClr val="003366"/>
                </a:solidFill>
                <a:latin typeface="+mn-lt"/>
                <a:cs typeface="+mn-cs"/>
              </a:rPr>
              <a:t>מחליף </a:t>
            </a:r>
            <a:r>
              <a:rPr lang="en-US" sz="3200" kern="0" dirty="0" smtClean="0">
                <a:solidFill>
                  <a:srgbClr val="003366"/>
                </a:solidFill>
                <a:latin typeface="+mn-lt"/>
                <a:cs typeface="+mn-cs"/>
              </a:rPr>
              <a:t>SDK</a:t>
            </a:r>
            <a:r>
              <a:rPr lang="he-IL" sz="3200" kern="0" dirty="0" smtClean="0">
                <a:solidFill>
                  <a:srgbClr val="003366"/>
                </a:solidFill>
                <a:latin typeface="+mn-lt"/>
                <a:cs typeface="+mn-cs"/>
              </a:rPr>
              <a:t> עם</a:t>
            </a:r>
            <a:r>
              <a:rPr lang="en-US" sz="3200" kern="0" dirty="0" smtClean="0">
                <a:solidFill>
                  <a:srgbClr val="003366"/>
                </a:solidFill>
                <a:latin typeface="+mn-lt"/>
                <a:cs typeface="+mn-cs"/>
              </a:rPr>
              <a:t/>
            </a:r>
            <a:br>
              <a:rPr lang="en-US" sz="3200" kern="0" dirty="0" smtClean="0">
                <a:solidFill>
                  <a:srgbClr val="003366"/>
                </a:solidFill>
                <a:latin typeface="+mn-lt"/>
                <a:cs typeface="+mn-cs"/>
              </a:rPr>
            </a:br>
            <a:r>
              <a:rPr lang="he-IL" sz="3200" kern="0" dirty="0" smtClean="0">
                <a:solidFill>
                  <a:srgbClr val="003366"/>
                </a:solidFill>
                <a:latin typeface="+mn-lt"/>
                <a:cs typeface="+mn-cs"/>
              </a:rPr>
              <a:t>דוגמאות ותיעוד בו </a:t>
            </a:r>
            <a:r>
              <a:rPr lang="en-US" sz="3200" kern="0" dirty="0" smtClean="0">
                <a:solidFill>
                  <a:srgbClr val="003366"/>
                </a:solidFill>
                <a:latin typeface="+mn-lt"/>
                <a:cs typeface="+mn-cs"/>
              </a:rPr>
              <a:t/>
            </a:r>
            <a:br>
              <a:rPr lang="en-US" sz="3200" kern="0" dirty="0" smtClean="0">
                <a:solidFill>
                  <a:srgbClr val="003366"/>
                </a:solidFill>
                <a:latin typeface="+mn-lt"/>
                <a:cs typeface="+mn-cs"/>
              </a:rPr>
            </a:br>
            <a:r>
              <a:rPr lang="he-IL" sz="3200" kern="0" dirty="0" smtClean="0">
                <a:solidFill>
                  <a:srgbClr val="003366"/>
                </a:solidFill>
                <a:latin typeface="+mn-lt"/>
                <a:cs typeface="+mn-cs"/>
              </a:rPr>
              <a:t>נתמקד בהדרכה</a:t>
            </a:r>
          </a:p>
          <a:p>
            <a:pPr marL="342900" marR="0" lvl="0" indent="-342900" algn="r" defTabSz="-13873163" rtl="1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Blip>
                <a:blip r:embed="rId3"/>
              </a:buBlip>
              <a:tabLst/>
              <a:defRPr/>
            </a:pPr>
            <a:endParaRPr kumimoji="0" lang="he-IL" sz="3200" b="0" i="0" u="none" strike="noStrike" kern="0" cap="none" spc="0" normalizeH="0" baseline="0" noProof="0" dirty="0" smtClean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+mn-lt"/>
              <a:ea typeface="Times New Roman (Hebrew)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2976" y="1000108"/>
            <a:ext cx="7572428" cy="533400"/>
          </a:xfrm>
        </p:spPr>
        <p:txBody>
          <a:bodyPr/>
          <a:lstStyle/>
          <a:p>
            <a:pPr algn="r" rtl="1"/>
            <a:r>
              <a:rPr lang="he-IL" dirty="0" smtClean="0"/>
              <a:t>עיקרי השנוי בגרסה החדשה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4348" y="1571612"/>
            <a:ext cx="7924800" cy="4449763"/>
          </a:xfrm>
        </p:spPr>
        <p:txBody>
          <a:bodyPr/>
          <a:lstStyle/>
          <a:p>
            <a:pPr algn="r" rtl="1"/>
            <a:r>
              <a:rPr lang="he-IL" dirty="0" smtClean="0"/>
              <a:t>עבודה עם תקן </a:t>
            </a:r>
            <a:r>
              <a:rPr lang="en-US" dirty="0" smtClean="0"/>
              <a:t>XMLDSIG </a:t>
            </a:r>
          </a:p>
          <a:p>
            <a:pPr lvl="1" algn="r" rtl="1"/>
            <a:r>
              <a:rPr lang="he-IL" dirty="0" smtClean="0"/>
              <a:t>התקן המוביל בעולם</a:t>
            </a:r>
          </a:p>
          <a:p>
            <a:pPr lvl="1" algn="r" rtl="1"/>
            <a:r>
              <a:rPr lang="he-IL" dirty="0" smtClean="0"/>
              <a:t>תמיכה ב </a:t>
            </a:r>
            <a:r>
              <a:rPr lang="en-US" dirty="0" smtClean="0"/>
              <a:t>TIMESTAMP </a:t>
            </a:r>
            <a:r>
              <a:rPr lang="he-IL" dirty="0" smtClean="0"/>
              <a:t> (בהקמה)</a:t>
            </a:r>
          </a:p>
          <a:p>
            <a:pPr lvl="1" algn="r" rtl="1"/>
            <a:r>
              <a:rPr lang="he-IL" dirty="0" smtClean="0"/>
              <a:t>תמיכה ב </a:t>
            </a:r>
            <a:r>
              <a:rPr lang="en-US" dirty="0" smtClean="0"/>
              <a:t>ARCHIVING </a:t>
            </a:r>
            <a:r>
              <a:rPr lang="he-IL" dirty="0" smtClean="0"/>
              <a:t> - שימור תקינות החתימה לאורך שנים</a:t>
            </a:r>
          </a:p>
          <a:p>
            <a:pPr algn="r" rtl="1"/>
            <a:r>
              <a:rPr lang="he-IL" dirty="0" smtClean="0"/>
              <a:t>ממשק משתמש משופר</a:t>
            </a:r>
          </a:p>
          <a:p>
            <a:pPr algn="r" rtl="1"/>
            <a:r>
              <a:rPr lang="he-IL" dirty="0" smtClean="0"/>
              <a:t>תמיכה בחתימה מרובה על קבצים</a:t>
            </a:r>
          </a:p>
          <a:p>
            <a:pPr algn="r" rtl="1"/>
            <a:r>
              <a:rPr lang="he-IL" dirty="0" smtClean="0"/>
              <a:t>עבודה ב </a:t>
            </a:r>
            <a:r>
              <a:rPr lang="en-US" dirty="0" smtClean="0"/>
              <a:t>64bit</a:t>
            </a:r>
            <a:r>
              <a:rPr lang="he-IL" dirty="0" smtClean="0"/>
              <a:t>.</a:t>
            </a:r>
            <a:endParaRPr lang="he-IL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Digital signature 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Signing process</a:t>
            </a:r>
          </a:p>
          <a:p>
            <a:r>
              <a:rPr lang="en-US" dirty="0" smtClean="0"/>
              <a:t>Verifying process</a:t>
            </a:r>
          </a:p>
          <a:p>
            <a:r>
              <a:rPr lang="en-US" dirty="0" smtClean="0"/>
              <a:t>Reasons for Invalid Signatures</a:t>
            </a:r>
          </a:p>
          <a:p>
            <a:r>
              <a:rPr lang="en-US" dirty="0" smtClean="0"/>
              <a:t>Certificate validations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1604" y="990600"/>
            <a:ext cx="7072362" cy="533400"/>
          </a:xfrm>
        </p:spPr>
        <p:txBody>
          <a:bodyPr>
            <a:normAutofit fontScale="90000"/>
          </a:bodyPr>
          <a:lstStyle/>
          <a:p>
            <a:r>
              <a:rPr lang="en-US" sz="3300" dirty="0" smtClean="0"/>
              <a:t>Signing process</a:t>
            </a:r>
            <a:endParaRPr lang="en-US" sz="3300" dirty="0"/>
          </a:p>
        </p:txBody>
      </p:sp>
      <p:pic>
        <p:nvPicPr>
          <p:cNvPr id="4" name="Content Placeholder 3" descr="DigDocSign01.gif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1143000" y="1905000"/>
            <a:ext cx="6305550" cy="151447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838200" y="4639270"/>
            <a:ext cx="7467600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 smtClean="0"/>
              <a:t>Step 1: Calculate the Message Digest (hash-value)</a:t>
            </a:r>
          </a:p>
          <a:p>
            <a:endParaRPr lang="en-US" sz="2500" dirty="0" smtClean="0"/>
          </a:p>
          <a:p>
            <a:r>
              <a:rPr lang="en-US" sz="2500" dirty="0" smtClean="0"/>
              <a:t>Step 2: Calculate the Digital Signature</a:t>
            </a:r>
          </a:p>
          <a:p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300" dirty="0" smtClean="0"/>
              <a:t>Verifying process</a:t>
            </a:r>
            <a:endParaRPr lang="en-US" sz="3300" dirty="0"/>
          </a:p>
        </p:txBody>
      </p:sp>
      <p:pic>
        <p:nvPicPr>
          <p:cNvPr id="7" name="Content Placeholder 6" descr="DigDocSign02.gif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1309687" y="1552575"/>
            <a:ext cx="6524625" cy="2790825"/>
          </a:xfrm>
        </p:spPr>
      </p:pic>
      <p:sp>
        <p:nvSpPr>
          <p:cNvPr id="5" name="TextBox 4"/>
          <p:cNvSpPr txBox="1"/>
          <p:nvPr/>
        </p:nvSpPr>
        <p:spPr>
          <a:xfrm>
            <a:off x="838200" y="4639271"/>
            <a:ext cx="74676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Step 1: Calculate the Current Hash-Value</a:t>
            </a:r>
          </a:p>
          <a:p>
            <a:endParaRPr lang="en-US" sz="2000" dirty="0" smtClean="0"/>
          </a:p>
          <a:p>
            <a:r>
              <a:rPr lang="en-US" sz="2000" dirty="0" smtClean="0"/>
              <a:t>Step 2: Calculate the Original Hash-Value</a:t>
            </a:r>
          </a:p>
          <a:p>
            <a:endParaRPr lang="en-US" sz="2000" dirty="0" smtClean="0"/>
          </a:p>
          <a:p>
            <a:r>
              <a:rPr lang="en-US" sz="2000" dirty="0" smtClean="0"/>
              <a:t>Step 3: Compare the Current and the Original Hash-Values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300" dirty="0" smtClean="0"/>
              <a:t>Reasons for Invalid Signatures</a:t>
            </a:r>
            <a:endParaRPr lang="en-US" sz="3300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29600" cy="4343399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dirty="0" smtClean="0"/>
              <a:t>There are three possible reasons for getting an invalid digital signature:</a:t>
            </a:r>
          </a:p>
          <a:p>
            <a:pPr>
              <a:buNone/>
            </a:pPr>
            <a:endParaRPr lang="en-US" dirty="0" smtClean="0"/>
          </a:p>
          <a:p>
            <a:r>
              <a:rPr lang="en-US" b="1" dirty="0" smtClean="0"/>
              <a:t>If the digital signature was changed</a:t>
            </a:r>
            <a:r>
              <a:rPr lang="en-US" dirty="0" smtClean="0"/>
              <a:t>, the obtained original value will not be the original hash-value of the original message but some other value. </a:t>
            </a:r>
          </a:p>
          <a:p>
            <a:r>
              <a:rPr lang="en-US" b="1" dirty="0" smtClean="0"/>
              <a:t>If the message was changed after being signed</a:t>
            </a:r>
            <a:r>
              <a:rPr lang="en-US" dirty="0" smtClean="0"/>
              <a:t>, the current hash-value calculated from this adulterated message will differ from the original hash-value because the two different messages correspond to different hash-values. </a:t>
            </a:r>
          </a:p>
          <a:p>
            <a:r>
              <a:rPr lang="en-US" b="1" dirty="0" smtClean="0"/>
              <a:t>If the public key does not correspond to the private key </a:t>
            </a:r>
            <a:r>
              <a:rPr lang="en-US" dirty="0" smtClean="0"/>
              <a:t>used for signing, the original hash-value obtained by decrypting the signature with an incorrect key will not be the correct one.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2976" y="928670"/>
            <a:ext cx="8229600" cy="604838"/>
          </a:xfrm>
        </p:spPr>
        <p:txBody>
          <a:bodyPr>
            <a:normAutofit/>
          </a:bodyPr>
          <a:lstStyle/>
          <a:p>
            <a:r>
              <a:rPr lang="en-US" sz="3300" dirty="0" smtClean="0"/>
              <a:t>Certificate validations(optional)</a:t>
            </a:r>
            <a:endParaRPr lang="en-US" sz="3300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29600" cy="434339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In addition to the signature validation , there are two optional certificate validations.</a:t>
            </a:r>
          </a:p>
          <a:p>
            <a:r>
              <a:rPr lang="en-US" dirty="0" smtClean="0"/>
              <a:t>Checking that all certificates in the chain(intermediate – CA) are trusted.</a:t>
            </a:r>
          </a:p>
          <a:p>
            <a:r>
              <a:rPr lang="en-US" dirty="0" smtClean="0"/>
              <a:t>Checking if the end-certificate isn’t revoked (Certificate Revocation List).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Sign &amp; Verify SDK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2027237"/>
            <a:ext cx="8229600" cy="4525963"/>
          </a:xfrm>
        </p:spPr>
        <p:txBody>
          <a:bodyPr/>
          <a:lstStyle/>
          <a:p>
            <a:r>
              <a:rPr lang="en-US" sz="3500" dirty="0" smtClean="0"/>
              <a:t>Installation</a:t>
            </a:r>
          </a:p>
          <a:p>
            <a:r>
              <a:rPr lang="en-US" sz="3500" dirty="0" smtClean="0"/>
              <a:t>Content</a:t>
            </a:r>
          </a:p>
          <a:p>
            <a:r>
              <a:rPr lang="en-US" sz="3500" dirty="0" smtClean="0"/>
              <a:t>Architecture</a:t>
            </a:r>
          </a:p>
          <a:p>
            <a:r>
              <a:rPr lang="en-US" sz="3500" dirty="0" smtClean="0"/>
              <a:t>Samples</a:t>
            </a:r>
            <a:endParaRPr lang="en-US" sz="3400" dirty="0" smtClean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 </a:t>
            </a:r>
            <a:r>
              <a:rPr lang="en-US" sz="3300" dirty="0" smtClean="0"/>
              <a:t>installation</a:t>
            </a:r>
            <a:endParaRPr lang="en-US" sz="33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Download the latest version(2.1.6) of the Sign &amp; Verify SDK :</a:t>
            </a:r>
          </a:p>
          <a:p>
            <a:pPr lvl="1"/>
            <a:r>
              <a:rPr lang="en-US" u="sng" dirty="0" smtClean="0">
                <a:hlinkClick r:id="rId2"/>
              </a:rPr>
              <a:t>http://forms.gov.il/download/SignVerify.SDK.msi</a:t>
            </a:r>
            <a:r>
              <a:rPr lang="en-US" dirty="0" smtClean="0"/>
              <a:t> </a:t>
            </a:r>
          </a:p>
          <a:p>
            <a:r>
              <a:rPr lang="en-US" dirty="0" smtClean="0"/>
              <a:t>Install it</a:t>
            </a:r>
          </a:p>
          <a:p>
            <a:pPr lvl="1"/>
            <a:r>
              <a:rPr lang="en-US" dirty="0" smtClean="0"/>
              <a:t>Installation will create a new folder (by default to C:\Program Files\GOV.IL\ </a:t>
            </a:r>
            <a:r>
              <a:rPr lang="en-US" dirty="0" err="1" smtClean="0"/>
              <a:t>SignVerify</a:t>
            </a:r>
            <a:r>
              <a:rPr lang="en-US" dirty="0" smtClean="0"/>
              <a:t> SDK [Version]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Sign &amp; Verify SDK - </a:t>
            </a:r>
            <a:r>
              <a:rPr lang="en-US" sz="3300" dirty="0" smtClean="0"/>
              <a:t>Content</a:t>
            </a:r>
            <a:endParaRPr lang="en-US" sz="33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The S&amp;V SDK includes:</a:t>
            </a:r>
          </a:p>
          <a:p>
            <a:r>
              <a:rPr lang="en-US" b="1" dirty="0" smtClean="0"/>
              <a:t>Documentation</a:t>
            </a:r>
          </a:p>
          <a:p>
            <a:pPr lvl="1"/>
            <a:r>
              <a:rPr lang="en-US" dirty="0" smtClean="0"/>
              <a:t>Sign &amp; Verify.chm</a:t>
            </a:r>
          </a:p>
          <a:p>
            <a:pPr lvl="1"/>
            <a:r>
              <a:rPr lang="en-US" dirty="0" err="1" smtClean="0"/>
              <a:t>SignPanel</a:t>
            </a:r>
            <a:r>
              <a:rPr lang="en-US" dirty="0" smtClean="0"/>
              <a:t> Workflow.pdf</a:t>
            </a:r>
          </a:p>
          <a:p>
            <a:r>
              <a:rPr lang="en-US" b="1" dirty="0" smtClean="0"/>
              <a:t>Samples &amp; </a:t>
            </a:r>
            <a:r>
              <a:rPr lang="en-US" b="1" dirty="0" err="1" smtClean="0"/>
              <a:t>Dlls</a:t>
            </a:r>
            <a:endParaRPr lang="en-US" b="1" dirty="0" smtClean="0"/>
          </a:p>
          <a:p>
            <a:pPr lvl="1"/>
            <a:r>
              <a:rPr lang="en-US" dirty="0" smtClean="0"/>
              <a:t>Dependencies(</a:t>
            </a:r>
            <a:r>
              <a:rPr lang="en-US" dirty="0" err="1" smtClean="0"/>
              <a:t>Dll</a:t>
            </a:r>
            <a:r>
              <a:rPr lang="en-US" dirty="0" smtClean="0"/>
              <a:t>) built with .NET 2.0</a:t>
            </a:r>
          </a:p>
          <a:p>
            <a:pPr lvl="1"/>
            <a:r>
              <a:rPr lang="en-US" dirty="0" smtClean="0"/>
              <a:t>4 samples and a Visual Studio 2008 solution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300" dirty="0" smtClean="0"/>
              <a:t>Architecture</a:t>
            </a:r>
            <a:endParaRPr lang="en-US" sz="33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29600" cy="48006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 smtClean="0"/>
              <a:t>Description of the principal assemblies:</a:t>
            </a:r>
          </a:p>
          <a:p>
            <a:r>
              <a:rPr lang="en-US" sz="2500" dirty="0" err="1" smtClean="0"/>
              <a:t>SignVerify.common</a:t>
            </a:r>
            <a:endParaRPr lang="en-US" sz="2500" dirty="0" smtClean="0"/>
          </a:p>
          <a:p>
            <a:pPr lvl="1"/>
            <a:r>
              <a:rPr lang="en-US" sz="2100" dirty="0" smtClean="0"/>
              <a:t>Provider interfaces  </a:t>
            </a:r>
          </a:p>
          <a:p>
            <a:pPr lvl="1"/>
            <a:r>
              <a:rPr lang="en-US" sz="2100" dirty="0" smtClean="0"/>
              <a:t>Crypto objects</a:t>
            </a:r>
          </a:p>
          <a:p>
            <a:pPr lvl="1"/>
            <a:r>
              <a:rPr lang="en-US" sz="2100" dirty="0" smtClean="0"/>
              <a:t>Sign &amp; Verify options</a:t>
            </a:r>
          </a:p>
          <a:p>
            <a:pPr lvl="1"/>
            <a:r>
              <a:rPr lang="en-US" sz="2100" dirty="0" smtClean="0"/>
              <a:t>Services</a:t>
            </a:r>
          </a:p>
          <a:p>
            <a:r>
              <a:rPr lang="en-US" sz="2500" dirty="0" smtClean="0"/>
              <a:t>Providers</a:t>
            </a:r>
          </a:p>
          <a:p>
            <a:pPr lvl="1"/>
            <a:r>
              <a:rPr lang="en-US" sz="2100" dirty="0" err="1" smtClean="0"/>
              <a:t>Pcks</a:t>
            </a:r>
            <a:r>
              <a:rPr lang="en-US" sz="2100" dirty="0" smtClean="0"/>
              <a:t> #7</a:t>
            </a:r>
          </a:p>
          <a:p>
            <a:pPr lvl="1"/>
            <a:r>
              <a:rPr lang="en-US" sz="2100" dirty="0" err="1" smtClean="0"/>
              <a:t>XmlDSig</a:t>
            </a:r>
            <a:endParaRPr lang="en-US" sz="2100" dirty="0" smtClean="0"/>
          </a:p>
          <a:p>
            <a:r>
              <a:rPr lang="en-US" sz="2500" dirty="0" err="1" smtClean="0"/>
              <a:t>SignVerify.Web</a:t>
            </a:r>
            <a:endParaRPr lang="en-US" sz="2500" dirty="0" smtClean="0"/>
          </a:p>
          <a:p>
            <a:pPr lvl="1"/>
            <a:r>
              <a:rPr lang="en-US" sz="2100" dirty="0" smtClean="0"/>
              <a:t>Services </a:t>
            </a:r>
          </a:p>
          <a:p>
            <a:pPr lvl="1"/>
            <a:r>
              <a:rPr lang="en-US" sz="2100" dirty="0" err="1" smtClean="0"/>
              <a:t>SignPanel</a:t>
            </a:r>
            <a:endParaRPr lang="en-US" sz="2100" dirty="0" smtClean="0"/>
          </a:p>
          <a:p>
            <a:pPr lvl="1">
              <a:buNone/>
            </a:pPr>
            <a:endParaRPr lang="en-US" sz="2100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000108"/>
            <a:ext cx="9358378" cy="533400"/>
          </a:xfrm>
        </p:spPr>
        <p:txBody>
          <a:bodyPr>
            <a:normAutofit fontScale="90000"/>
          </a:bodyPr>
          <a:lstStyle/>
          <a:p>
            <a:r>
              <a:rPr lang="en-US" sz="3300" dirty="0" smtClean="0"/>
              <a:t> </a:t>
            </a:r>
            <a:r>
              <a:rPr lang="en-US" sz="3300" dirty="0" err="1" smtClean="0"/>
              <a:t>SignVerify.Common</a:t>
            </a:r>
            <a:r>
              <a:rPr lang="en-US" sz="3300" dirty="0" smtClean="0"/>
              <a:t> – Providers interfaces </a:t>
            </a:r>
            <a:endParaRPr lang="en-US" sz="3300" dirty="0"/>
          </a:p>
        </p:txBody>
      </p:sp>
      <p:pic>
        <p:nvPicPr>
          <p:cNvPr id="4" name="Content Placeholder 3" descr="provider interfaces.jp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6072198" y="2143116"/>
            <a:ext cx="2761572" cy="3414724"/>
          </a:xfrm>
        </p:spPr>
      </p:pic>
      <p:sp>
        <p:nvSpPr>
          <p:cNvPr id="5" name="TextBox 4"/>
          <p:cNvSpPr txBox="1"/>
          <p:nvPr/>
        </p:nvSpPr>
        <p:spPr>
          <a:xfrm>
            <a:off x="214282" y="2214554"/>
            <a:ext cx="5867400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r>
              <a:rPr lang="en-US" sz="2500" dirty="0" smtClean="0"/>
              <a:t>Each Crypto provider must implement the </a:t>
            </a:r>
          </a:p>
          <a:p>
            <a:pPr algn="l" rtl="0"/>
            <a:r>
              <a:rPr lang="en-US" sz="2500" b="1" dirty="0" err="1" smtClean="0"/>
              <a:t>ICryptoProvider</a:t>
            </a:r>
            <a:r>
              <a:rPr lang="en-US" sz="2500" dirty="0" smtClean="0"/>
              <a:t> Interface.</a:t>
            </a:r>
          </a:p>
          <a:p>
            <a:pPr algn="l" rtl="0"/>
            <a:r>
              <a:rPr lang="en-US" sz="2500" dirty="0" smtClean="0"/>
              <a:t>There are 3 methods</a:t>
            </a:r>
          </a:p>
          <a:p>
            <a:pPr lvl="1" algn="l" rtl="0">
              <a:buFont typeface="Arial" pitchFamily="34" charset="0"/>
              <a:buChar char="•"/>
            </a:pPr>
            <a:r>
              <a:rPr lang="en-US" sz="2500" dirty="0" smtClean="0"/>
              <a:t>Sign</a:t>
            </a:r>
          </a:p>
          <a:p>
            <a:pPr lvl="1" algn="l" rtl="0">
              <a:buFont typeface="Arial" pitchFamily="34" charset="0"/>
              <a:buChar char="•"/>
            </a:pPr>
            <a:r>
              <a:rPr lang="en-US" sz="2500" dirty="0" smtClean="0"/>
              <a:t>Cosign</a:t>
            </a:r>
          </a:p>
          <a:p>
            <a:pPr lvl="1" algn="l" rtl="0">
              <a:buFont typeface="Arial" pitchFamily="34" charset="0"/>
              <a:buChar char="•"/>
            </a:pPr>
            <a:r>
              <a:rPr lang="en-US" sz="2500" dirty="0" err="1" smtClean="0"/>
              <a:t>verifySignature</a:t>
            </a:r>
            <a:endParaRPr lang="en-US" sz="2500" dirty="0" smtClean="0"/>
          </a:p>
          <a:p>
            <a:pPr lvl="1" algn="l" rtl="0"/>
            <a:endParaRPr lang="en-US" sz="2500" dirty="0" smtClean="0"/>
          </a:p>
          <a:p>
            <a:pPr algn="l" rtl="0"/>
            <a:r>
              <a:rPr lang="en-US" sz="2500" dirty="0" smtClean="0"/>
              <a:t>The included providers (xmldsign,pkcs7) </a:t>
            </a:r>
          </a:p>
          <a:p>
            <a:pPr algn="l" rtl="0"/>
            <a:r>
              <a:rPr lang="en-US" sz="2500" dirty="0" smtClean="0"/>
              <a:t>Implement this interface.</a:t>
            </a:r>
          </a:p>
          <a:p>
            <a:pPr algn="l" rtl="0"/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4348" y="1000108"/>
            <a:ext cx="8072494" cy="533400"/>
          </a:xfrm>
        </p:spPr>
        <p:txBody>
          <a:bodyPr>
            <a:normAutofit fontScale="90000"/>
          </a:bodyPr>
          <a:lstStyle/>
          <a:p>
            <a:r>
              <a:rPr lang="en-US" sz="3300" dirty="0" err="1" smtClean="0"/>
              <a:t>SignVerify.Common</a:t>
            </a:r>
            <a:r>
              <a:rPr lang="en-US" sz="3300" dirty="0" smtClean="0"/>
              <a:t> – Crypto objects</a:t>
            </a:r>
            <a:endParaRPr lang="en-US" sz="3300" dirty="0"/>
          </a:p>
        </p:txBody>
      </p:sp>
      <p:sp>
        <p:nvSpPr>
          <p:cNvPr id="8" name="TextBox 7"/>
          <p:cNvSpPr txBox="1"/>
          <p:nvPr/>
        </p:nvSpPr>
        <p:spPr>
          <a:xfrm>
            <a:off x="228600" y="2050971"/>
            <a:ext cx="3429000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r>
              <a:rPr lang="en-US" sz="2200" dirty="0" smtClean="0"/>
              <a:t>A </a:t>
            </a:r>
            <a:r>
              <a:rPr lang="en-US" sz="2200" b="1" dirty="0" smtClean="0"/>
              <a:t>signed object </a:t>
            </a:r>
            <a:r>
              <a:rPr lang="en-US" sz="2200" dirty="0" smtClean="0"/>
              <a:t>contains </a:t>
            </a:r>
          </a:p>
          <a:p>
            <a:pPr lvl="1" algn="l" rtl="0">
              <a:buFont typeface="Arial" pitchFamily="34" charset="0"/>
              <a:buChar char="•"/>
            </a:pPr>
            <a:r>
              <a:rPr lang="en-US" sz="2200" dirty="0" smtClean="0"/>
              <a:t>The signatures </a:t>
            </a:r>
          </a:p>
          <a:p>
            <a:pPr lvl="1" algn="l" rtl="0">
              <a:buFont typeface="Arial" pitchFamily="34" charset="0"/>
              <a:buChar char="•"/>
            </a:pPr>
            <a:r>
              <a:rPr lang="en-US" sz="2200" dirty="0" smtClean="0"/>
              <a:t>The signed content</a:t>
            </a:r>
          </a:p>
          <a:p>
            <a:pPr lvl="1" algn="l" rtl="0">
              <a:buFont typeface="Arial" pitchFamily="34" charset="0"/>
              <a:buChar char="•"/>
            </a:pPr>
            <a:r>
              <a:rPr lang="en-US" sz="2200" dirty="0" smtClean="0"/>
              <a:t>The original content</a:t>
            </a:r>
          </a:p>
          <a:p>
            <a:pPr lvl="1" algn="l" rtl="0">
              <a:buFont typeface="Arial" pitchFamily="34" charset="0"/>
              <a:buChar char="•"/>
            </a:pPr>
            <a:r>
              <a:rPr lang="en-US" sz="2200" dirty="0" smtClean="0"/>
              <a:t>The signing provider ID</a:t>
            </a:r>
          </a:p>
          <a:p>
            <a:pPr lvl="1" algn="l" rtl="0">
              <a:buFont typeface="Arial" pitchFamily="34" charset="0"/>
              <a:buChar char="•"/>
            </a:pPr>
            <a:endParaRPr lang="en-US" sz="2200" dirty="0" smtClean="0"/>
          </a:p>
          <a:p>
            <a:pPr algn="l" rtl="0"/>
            <a:r>
              <a:rPr lang="en-US" sz="2200" dirty="0" smtClean="0"/>
              <a:t>The </a:t>
            </a:r>
            <a:r>
              <a:rPr lang="en-US" sz="2200" b="1" dirty="0" err="1" smtClean="0"/>
              <a:t>signatureInfo</a:t>
            </a:r>
            <a:r>
              <a:rPr lang="en-US" sz="2200" dirty="0" smtClean="0"/>
              <a:t> object contains all the info included in the signature and the </a:t>
            </a:r>
            <a:r>
              <a:rPr lang="en-US" sz="2200" dirty="0" err="1" smtClean="0"/>
              <a:t>counterSignatures</a:t>
            </a:r>
            <a:r>
              <a:rPr lang="en-US" sz="2200" dirty="0" smtClean="0"/>
              <a:t> in case of cosign-over.</a:t>
            </a:r>
          </a:p>
        </p:txBody>
      </p:sp>
      <p:pic>
        <p:nvPicPr>
          <p:cNvPr id="6" name="Content Placeholder 5" descr="crypto objects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41664" y="2071678"/>
            <a:ext cx="5102336" cy="3786186"/>
          </a:xfr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 </a:t>
            </a:r>
            <a:r>
              <a:rPr lang="en-US" sz="3300" dirty="0" err="1" smtClean="0"/>
              <a:t>SignVerify.Common</a:t>
            </a:r>
            <a:r>
              <a:rPr lang="en-US" sz="3300" dirty="0" smtClean="0"/>
              <a:t> – S&amp;V options</a:t>
            </a:r>
            <a:endParaRPr lang="en-US" sz="3300" dirty="0"/>
          </a:p>
        </p:txBody>
      </p:sp>
      <p:pic>
        <p:nvPicPr>
          <p:cNvPr id="4" name="Content Placeholder 3" descr="parameters.jp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4627506" y="1571612"/>
            <a:ext cx="4516494" cy="4525963"/>
          </a:xfrm>
        </p:spPr>
      </p:pic>
      <p:sp>
        <p:nvSpPr>
          <p:cNvPr id="5" name="TextBox 4"/>
          <p:cNvSpPr txBox="1"/>
          <p:nvPr/>
        </p:nvSpPr>
        <p:spPr>
          <a:xfrm>
            <a:off x="785786" y="1643050"/>
            <a:ext cx="3733800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r>
              <a:rPr lang="en-US" sz="2000" dirty="0" smtClean="0"/>
              <a:t>The </a:t>
            </a:r>
            <a:r>
              <a:rPr lang="en-US" sz="2000" b="1" dirty="0" err="1" smtClean="0"/>
              <a:t>SignParameters</a:t>
            </a:r>
            <a:r>
              <a:rPr lang="en-US" sz="2000" b="1" dirty="0" smtClean="0"/>
              <a:t> </a:t>
            </a:r>
            <a:r>
              <a:rPr lang="en-US" sz="2000" dirty="0" smtClean="0"/>
              <a:t>object is used in the “sign” method.</a:t>
            </a:r>
          </a:p>
          <a:p>
            <a:pPr algn="l" rtl="0"/>
            <a:r>
              <a:rPr lang="en-US" sz="2000" dirty="0" smtClean="0"/>
              <a:t>It contains the </a:t>
            </a:r>
            <a:r>
              <a:rPr lang="en-US" sz="2000" dirty="0" err="1" smtClean="0"/>
              <a:t>signatureInfo</a:t>
            </a:r>
            <a:r>
              <a:rPr lang="en-US" sz="2000" dirty="0" smtClean="0"/>
              <a:t> used for signing.</a:t>
            </a:r>
          </a:p>
          <a:p>
            <a:pPr algn="l" rtl="0"/>
            <a:endParaRPr lang="en-US" sz="2000" dirty="0" smtClean="0"/>
          </a:p>
          <a:p>
            <a:pPr algn="l" rtl="0"/>
            <a:r>
              <a:rPr lang="en-US" sz="2000" dirty="0" smtClean="0"/>
              <a:t>The </a:t>
            </a:r>
            <a:r>
              <a:rPr lang="en-US" sz="2000" b="1" dirty="0" err="1" smtClean="0"/>
              <a:t>CoSignParameters</a:t>
            </a:r>
            <a:r>
              <a:rPr lang="en-US" sz="2000" dirty="0" smtClean="0"/>
              <a:t> object is used in the “cosign” method.</a:t>
            </a:r>
          </a:p>
          <a:p>
            <a:pPr algn="l" rtl="0"/>
            <a:r>
              <a:rPr lang="en-US" sz="2000" dirty="0" smtClean="0"/>
              <a:t>It inherits from </a:t>
            </a:r>
            <a:r>
              <a:rPr lang="en-US" sz="2000" dirty="0" err="1" smtClean="0"/>
              <a:t>SignParam</a:t>
            </a:r>
            <a:r>
              <a:rPr lang="en-US" sz="2000" dirty="0" smtClean="0"/>
              <a:t> and has one extra property: the cosign type .</a:t>
            </a:r>
          </a:p>
          <a:p>
            <a:pPr algn="l" rtl="0"/>
            <a:endParaRPr lang="en-US" sz="2000" dirty="0" smtClean="0"/>
          </a:p>
          <a:p>
            <a:pPr algn="l" rtl="0"/>
            <a:r>
              <a:rPr lang="en-US" sz="2000" dirty="0" smtClean="0"/>
              <a:t>The </a:t>
            </a:r>
            <a:r>
              <a:rPr lang="en-US" sz="2000" b="1" dirty="0" err="1" smtClean="0"/>
              <a:t>VerifyParameters</a:t>
            </a:r>
            <a:r>
              <a:rPr lang="en-US" sz="2000" b="1" dirty="0" smtClean="0"/>
              <a:t> </a:t>
            </a:r>
            <a:r>
              <a:rPr lang="en-US" sz="2000" dirty="0" smtClean="0"/>
              <a:t>object is used in the “verify” method and contains the certificate validations’ options.</a:t>
            </a:r>
          </a:p>
          <a:p>
            <a:pPr algn="l" rtl="0"/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 </a:t>
            </a:r>
            <a:r>
              <a:rPr lang="en-US" sz="3300" dirty="0" err="1" smtClean="0"/>
              <a:t>SignVerify.Common</a:t>
            </a:r>
            <a:r>
              <a:rPr lang="en-US" sz="3300" dirty="0" smtClean="0"/>
              <a:t> – Services</a:t>
            </a:r>
            <a:endParaRPr lang="en-US" sz="33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2200" dirty="0" smtClean="0"/>
              <a:t>The </a:t>
            </a:r>
            <a:r>
              <a:rPr lang="en-US" sz="2200" dirty="0" err="1" smtClean="0"/>
              <a:t>SignVerify.common</a:t>
            </a:r>
            <a:r>
              <a:rPr lang="en-US" sz="2200" dirty="0" smtClean="0"/>
              <a:t> includes many services to accelerate the development  of a digital signature application .</a:t>
            </a:r>
          </a:p>
          <a:p>
            <a:pPr>
              <a:buNone/>
            </a:pPr>
            <a:endParaRPr lang="en-US" sz="2200" dirty="0" smtClean="0"/>
          </a:p>
          <a:p>
            <a:r>
              <a:rPr lang="en-US" sz="2200" u="sng" dirty="0" err="1" smtClean="0"/>
              <a:t>ProvidersHelper</a:t>
            </a:r>
            <a:r>
              <a:rPr lang="en-US" sz="2200" dirty="0" smtClean="0"/>
              <a:t>: </a:t>
            </a:r>
            <a:r>
              <a:rPr lang="en-US" sz="2200" b="1" dirty="0" err="1" smtClean="0"/>
              <a:t>Autodetect</a:t>
            </a:r>
            <a:r>
              <a:rPr lang="en-US" sz="2200" dirty="0" smtClean="0"/>
              <a:t> the crypto provider of a signed file and </a:t>
            </a:r>
            <a:r>
              <a:rPr lang="en-US" sz="2200" b="1" dirty="0" smtClean="0"/>
              <a:t>cosign</a:t>
            </a:r>
            <a:r>
              <a:rPr lang="en-US" sz="2200" dirty="0" smtClean="0"/>
              <a:t> or </a:t>
            </a:r>
            <a:r>
              <a:rPr lang="en-US" sz="2200" b="1" dirty="0" smtClean="0"/>
              <a:t>verify</a:t>
            </a:r>
            <a:r>
              <a:rPr lang="en-US" sz="2200" dirty="0" smtClean="0"/>
              <a:t>.</a:t>
            </a:r>
          </a:p>
          <a:p>
            <a:endParaRPr lang="en-US" sz="2200" dirty="0" smtClean="0"/>
          </a:p>
          <a:p>
            <a:r>
              <a:rPr lang="en-US" sz="2200" u="sng" dirty="0" err="1" smtClean="0"/>
              <a:t>CardServices</a:t>
            </a:r>
            <a:r>
              <a:rPr lang="en-US" sz="2200" dirty="0" smtClean="0"/>
              <a:t>: Methods for </a:t>
            </a:r>
            <a:r>
              <a:rPr lang="en-US" sz="2200" b="1" dirty="0" smtClean="0"/>
              <a:t>smart card</a:t>
            </a:r>
            <a:r>
              <a:rPr lang="en-US" sz="2200" dirty="0" smtClean="0"/>
              <a:t>.(clear pin code, list readers, check if card is in reader…)</a:t>
            </a:r>
          </a:p>
          <a:p>
            <a:endParaRPr lang="en-US" sz="2200" dirty="0" smtClean="0"/>
          </a:p>
          <a:p>
            <a:r>
              <a:rPr lang="en-US" sz="2200" u="sng" dirty="0" err="1" smtClean="0"/>
              <a:t>CertificateServices</a:t>
            </a:r>
            <a:r>
              <a:rPr lang="en-US" sz="2400" dirty="0" smtClean="0"/>
              <a:t>: </a:t>
            </a:r>
            <a:r>
              <a:rPr lang="en-US" sz="2200" dirty="0" smtClean="0"/>
              <a:t>Methods for </a:t>
            </a:r>
            <a:r>
              <a:rPr lang="en-US" sz="2200" b="1" dirty="0" smtClean="0"/>
              <a:t>X509</a:t>
            </a:r>
            <a:r>
              <a:rPr lang="en-US" sz="2200" dirty="0" smtClean="0"/>
              <a:t> </a:t>
            </a:r>
            <a:r>
              <a:rPr lang="en-US" sz="2200" b="1" dirty="0" smtClean="0"/>
              <a:t>certificates</a:t>
            </a:r>
            <a:r>
              <a:rPr lang="en-US" sz="2200" dirty="0" smtClean="0"/>
              <a:t>(</a:t>
            </a:r>
            <a:r>
              <a:rPr lang="en-US" sz="2200" dirty="0" err="1" smtClean="0"/>
              <a:t>validation,search</a:t>
            </a:r>
            <a:r>
              <a:rPr lang="en-US" sz="2200" dirty="0" smtClean="0"/>
              <a:t> in store, extract info…)</a:t>
            </a:r>
          </a:p>
          <a:p>
            <a:endParaRPr lang="en-US" sz="2200" u="sng" dirty="0" smtClean="0"/>
          </a:p>
          <a:p>
            <a:r>
              <a:rPr lang="en-US" sz="2200" u="sng" dirty="0" err="1" smtClean="0"/>
              <a:t>ZipProvider</a:t>
            </a:r>
            <a:r>
              <a:rPr lang="en-US" sz="2200" dirty="0" smtClean="0"/>
              <a:t>: Create </a:t>
            </a:r>
            <a:r>
              <a:rPr lang="en-US" sz="2200" b="1" dirty="0" smtClean="0"/>
              <a:t>archive </a:t>
            </a:r>
            <a:r>
              <a:rPr lang="en-US" sz="2200" dirty="0" smtClean="0"/>
              <a:t>(zip) using the </a:t>
            </a:r>
            <a:r>
              <a:rPr lang="en-US" sz="2200" dirty="0" err="1" smtClean="0"/>
              <a:t>ICSharpCode.SharpZipLib.dll</a:t>
            </a:r>
            <a:endParaRPr lang="en-US" sz="2200" dirty="0" smtClean="0"/>
          </a:p>
          <a:p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5786" y="1000108"/>
            <a:ext cx="8229600" cy="533400"/>
          </a:xfrm>
        </p:spPr>
        <p:txBody>
          <a:bodyPr>
            <a:normAutofit fontScale="90000"/>
          </a:bodyPr>
          <a:lstStyle/>
          <a:p>
            <a:r>
              <a:rPr lang="en-US" sz="3300" dirty="0" smtClean="0"/>
              <a:t>Providers</a:t>
            </a:r>
            <a:endParaRPr lang="en-US" sz="33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sz="2500" dirty="0" smtClean="0"/>
              <a:t>The SDK includes two crypto providers.</a:t>
            </a:r>
          </a:p>
          <a:p>
            <a:pPr>
              <a:buNone/>
            </a:pPr>
            <a:r>
              <a:rPr lang="en-US" sz="2500" dirty="0" smtClean="0"/>
              <a:t>The providers are in the “[</a:t>
            </a:r>
            <a:r>
              <a:rPr lang="en-US" sz="2500" dirty="0" err="1" smtClean="0"/>
              <a:t>Installfolder</a:t>
            </a:r>
            <a:r>
              <a:rPr lang="en-US" sz="2500" dirty="0" smtClean="0"/>
              <a:t>]\Samples &amp; </a:t>
            </a:r>
            <a:r>
              <a:rPr lang="en-US" sz="2500" dirty="0" err="1" smtClean="0"/>
              <a:t>Dlls</a:t>
            </a:r>
            <a:r>
              <a:rPr lang="en-US" sz="2500" dirty="0" smtClean="0"/>
              <a:t>\dependencies\</a:t>
            </a:r>
            <a:r>
              <a:rPr lang="en-US" sz="2500" dirty="0" err="1" smtClean="0"/>
              <a:t>plugins</a:t>
            </a:r>
            <a:r>
              <a:rPr lang="en-US" sz="2500" dirty="0" smtClean="0"/>
              <a:t>” folder.</a:t>
            </a:r>
          </a:p>
          <a:p>
            <a:endParaRPr lang="en-US" dirty="0" smtClean="0"/>
          </a:p>
          <a:p>
            <a:r>
              <a:rPr lang="en-US" dirty="0" smtClean="0"/>
              <a:t>PKCS7 :</a:t>
            </a:r>
          </a:p>
          <a:p>
            <a:pPr lvl="1"/>
            <a:r>
              <a:rPr lang="en-US" dirty="0" smtClean="0"/>
              <a:t>Old format</a:t>
            </a:r>
          </a:p>
          <a:p>
            <a:pPr lvl="1"/>
            <a:r>
              <a:rPr lang="en-US" dirty="0" smtClean="0"/>
              <a:t>Asn1 encoding</a:t>
            </a:r>
          </a:p>
          <a:p>
            <a:pPr lvl="1"/>
            <a:r>
              <a:rPr lang="en-US" dirty="0" smtClean="0"/>
              <a:t>Format used by capicom.dll</a:t>
            </a:r>
          </a:p>
          <a:p>
            <a:pPr lvl="1"/>
            <a:endParaRPr lang="en-US" dirty="0" smtClean="0"/>
          </a:p>
          <a:p>
            <a:r>
              <a:rPr lang="en-US" dirty="0" err="1" smtClean="0"/>
              <a:t>XmlDigSig</a:t>
            </a:r>
            <a:r>
              <a:rPr lang="en-US" dirty="0" smtClean="0"/>
              <a:t> </a:t>
            </a:r>
          </a:p>
          <a:p>
            <a:pPr lvl="1"/>
            <a:r>
              <a:rPr lang="en-US" dirty="0" smtClean="0"/>
              <a:t>New format</a:t>
            </a:r>
          </a:p>
          <a:p>
            <a:pPr lvl="1"/>
            <a:r>
              <a:rPr lang="en-US" dirty="0" smtClean="0"/>
              <a:t>Comprehensive xml structure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2976" y="1000108"/>
            <a:ext cx="7643866" cy="533400"/>
          </a:xfrm>
        </p:spPr>
        <p:txBody>
          <a:bodyPr>
            <a:normAutofit fontScale="90000"/>
          </a:bodyPr>
          <a:lstStyle/>
          <a:p>
            <a:r>
              <a:rPr lang="en-US" sz="3300" dirty="0" err="1" smtClean="0"/>
              <a:t>SignVerify.Web</a:t>
            </a:r>
            <a:r>
              <a:rPr lang="en-US" sz="3300" dirty="0" smtClean="0"/>
              <a:t>-Services</a:t>
            </a:r>
            <a:endParaRPr lang="en-US" sz="33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42910" y="1785926"/>
            <a:ext cx="8229600" cy="3505200"/>
          </a:xfrm>
        </p:spPr>
        <p:txBody>
          <a:bodyPr/>
          <a:lstStyle/>
          <a:p>
            <a:pPr algn="r" rtl="1">
              <a:buNone/>
            </a:pPr>
            <a:r>
              <a:rPr lang="he-IL" dirty="0" smtClean="0"/>
              <a:t>בסביבות אשר דורשות שימוש ב </a:t>
            </a:r>
            <a:r>
              <a:rPr lang="en-US" dirty="0" smtClean="0"/>
              <a:t>COM</a:t>
            </a:r>
            <a:r>
              <a:rPr lang="he-IL" dirty="0" smtClean="0"/>
              <a:t> כמו קריאה מסביבת </a:t>
            </a:r>
            <a:r>
              <a:rPr lang="en-US" dirty="0" smtClean="0"/>
              <a:t>WEB </a:t>
            </a:r>
            <a:r>
              <a:rPr lang="he-IL" dirty="0" smtClean="0"/>
              <a:t> ב </a:t>
            </a:r>
            <a:r>
              <a:rPr lang="en-US" dirty="0" smtClean="0"/>
              <a:t>JAVASCRIPT</a:t>
            </a:r>
            <a:r>
              <a:rPr lang="he-IL" dirty="0" smtClean="0"/>
              <a:t> ניתן לעשות שימוש ב </a:t>
            </a:r>
            <a:r>
              <a:rPr lang="en-US" dirty="0" err="1" smtClean="0"/>
              <a:t>SignVerify.Web.services</a:t>
            </a:r>
            <a:endParaRPr lang="he-IL" dirty="0" smtClean="0"/>
          </a:p>
          <a:p>
            <a:pPr>
              <a:buNone/>
            </a:pPr>
            <a:r>
              <a:rPr lang="en-US" dirty="0" smtClean="0"/>
              <a:t>. </a:t>
            </a:r>
          </a:p>
          <a:p>
            <a:pPr>
              <a:buNone/>
            </a:pPr>
            <a:r>
              <a:rPr lang="en-US" dirty="0" smtClean="0"/>
              <a:t>Currently, two methods are available:</a:t>
            </a:r>
          </a:p>
          <a:p>
            <a:pPr lvl="1"/>
            <a:r>
              <a:rPr lang="en-US" dirty="0" err="1" smtClean="0"/>
              <a:t>GetCertAndSign</a:t>
            </a:r>
            <a:r>
              <a:rPr lang="en-US" dirty="0" smtClean="0"/>
              <a:t>- Show the “select certificate” dialog , and sign.</a:t>
            </a:r>
          </a:p>
          <a:p>
            <a:pPr lvl="1"/>
            <a:r>
              <a:rPr lang="en-US" dirty="0" err="1" smtClean="0"/>
              <a:t>ClearPinCode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2976" y="1000108"/>
            <a:ext cx="7572428" cy="533400"/>
          </a:xfrm>
        </p:spPr>
        <p:txBody>
          <a:bodyPr>
            <a:normAutofit fontScale="90000"/>
          </a:bodyPr>
          <a:lstStyle/>
          <a:p>
            <a:r>
              <a:rPr lang="en-US" sz="3300" dirty="0" err="1" smtClean="0"/>
              <a:t>SignVerify.Web.UI-SignPanel</a:t>
            </a:r>
            <a:endParaRPr lang="en-US" sz="33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752600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A </a:t>
            </a:r>
            <a:r>
              <a:rPr lang="en-US" b="1" dirty="0" smtClean="0"/>
              <a:t>web control </a:t>
            </a:r>
            <a:r>
              <a:rPr lang="en-US" dirty="0" smtClean="0"/>
              <a:t>is available and allows to:</a:t>
            </a:r>
          </a:p>
          <a:p>
            <a:r>
              <a:rPr lang="en-US" dirty="0" smtClean="0"/>
              <a:t>sign a web page portion at the client side </a:t>
            </a:r>
          </a:p>
          <a:p>
            <a:r>
              <a:rPr lang="en-US" dirty="0" smtClean="0"/>
              <a:t>verify signature at server side</a:t>
            </a:r>
          </a:p>
          <a:p>
            <a:r>
              <a:rPr lang="en-US" dirty="0" smtClean="0"/>
              <a:t>Verify signed content originality (the signed content at the client is the same as the rendered content at the server)</a:t>
            </a:r>
          </a:p>
          <a:p>
            <a:r>
              <a:rPr lang="en-US" dirty="0" smtClean="0"/>
              <a:t>Multiple crypto providers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300" dirty="0" smtClean="0"/>
              <a:t>Samples</a:t>
            </a:r>
            <a:endParaRPr lang="en-US" sz="33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dirty="0" smtClean="0"/>
              <a:t>The samples are for visual studio 2008 and using the </a:t>
            </a:r>
            <a:r>
              <a:rPr lang="en-US" dirty="0" err="1" smtClean="0"/>
              <a:t>.Net</a:t>
            </a:r>
            <a:r>
              <a:rPr lang="en-US" dirty="0" smtClean="0"/>
              <a:t> 2.0 framework.</a:t>
            </a:r>
          </a:p>
          <a:p>
            <a:pPr>
              <a:buNone/>
            </a:pPr>
            <a:r>
              <a:rPr lang="en-US" dirty="0" smtClean="0"/>
              <a:t>A solution file containing the 4 projects is available.</a:t>
            </a:r>
          </a:p>
          <a:p>
            <a:pPr>
              <a:buNone/>
            </a:pPr>
            <a:r>
              <a:rPr lang="en-US" dirty="0" smtClean="0"/>
              <a:t>There are 4 samples:</a:t>
            </a:r>
          </a:p>
          <a:p>
            <a:r>
              <a:rPr lang="en-US" dirty="0" err="1" smtClean="0"/>
              <a:t>usingProviders</a:t>
            </a:r>
            <a:r>
              <a:rPr lang="en-US" dirty="0" smtClean="0"/>
              <a:t>  (</a:t>
            </a:r>
            <a:r>
              <a:rPr lang="en-US" dirty="0" err="1" smtClean="0"/>
              <a:t>ConsoleApplication</a:t>
            </a:r>
            <a:r>
              <a:rPr lang="en-US" dirty="0" smtClean="0"/>
              <a:t>)</a:t>
            </a:r>
          </a:p>
          <a:p>
            <a:r>
              <a:rPr lang="en-US" dirty="0" err="1" smtClean="0"/>
              <a:t>usingProvidersHelper</a:t>
            </a:r>
            <a:r>
              <a:rPr lang="en-US" dirty="0" smtClean="0"/>
              <a:t> (</a:t>
            </a:r>
            <a:r>
              <a:rPr lang="en-US" dirty="0" err="1" smtClean="0"/>
              <a:t>WindowsApplication</a:t>
            </a:r>
            <a:r>
              <a:rPr lang="en-US" dirty="0" smtClean="0"/>
              <a:t>)</a:t>
            </a:r>
          </a:p>
          <a:p>
            <a:r>
              <a:rPr lang="en-US" dirty="0" err="1" smtClean="0"/>
              <a:t>usingSignPanel</a:t>
            </a:r>
            <a:r>
              <a:rPr lang="en-US" dirty="0" smtClean="0"/>
              <a:t> (</a:t>
            </a:r>
            <a:r>
              <a:rPr lang="en-US" dirty="0" err="1" smtClean="0"/>
              <a:t>WebSite</a:t>
            </a:r>
            <a:r>
              <a:rPr lang="en-US" dirty="0" smtClean="0"/>
              <a:t>)</a:t>
            </a:r>
          </a:p>
          <a:p>
            <a:r>
              <a:rPr lang="en-US" dirty="0" err="1" smtClean="0"/>
              <a:t>capicomCompatibility</a:t>
            </a:r>
            <a:r>
              <a:rPr lang="en-US" dirty="0" smtClean="0"/>
              <a:t> (</a:t>
            </a:r>
            <a:r>
              <a:rPr lang="en-US" dirty="0" err="1" smtClean="0"/>
              <a:t>WindowsApplication</a:t>
            </a:r>
            <a:r>
              <a:rPr lang="en-US" dirty="0" smtClean="0"/>
              <a:t>)</a:t>
            </a:r>
          </a:p>
          <a:p>
            <a:pPr>
              <a:buNone/>
            </a:pPr>
            <a:r>
              <a:rPr lang="en-US" dirty="0" smtClean="0"/>
              <a:t> </a:t>
            </a: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300" dirty="0" smtClean="0"/>
              <a:t>Sample1-usingProviders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dirty="0" smtClean="0"/>
              <a:t>This sample describes how to sign and verify a file or a generated string by calling the crypto provider directly.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Choose crypto provider</a:t>
            </a:r>
          </a:p>
          <a:p>
            <a:r>
              <a:rPr lang="en-US" dirty="0" smtClean="0"/>
              <a:t>Choose the data to sign (string or file)</a:t>
            </a:r>
          </a:p>
        </p:txBody>
      </p:sp>
      <p:pic>
        <p:nvPicPr>
          <p:cNvPr id="4" name="Picture 3" descr="usingprovider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09600" y="3124200"/>
            <a:ext cx="4686300" cy="169545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300" dirty="0" smtClean="0"/>
              <a:t>Sample1-usingProviders</a:t>
            </a:r>
            <a:endParaRPr lang="en-US" sz="33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Sign method</a:t>
            </a:r>
          </a:p>
          <a:p>
            <a:endParaRPr lang="en-US" dirty="0"/>
          </a:p>
        </p:txBody>
      </p:sp>
      <p:pic>
        <p:nvPicPr>
          <p:cNvPr id="5" name="Picture 4" descr="usingprovider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62000" y="2438400"/>
            <a:ext cx="7600950" cy="35242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300" dirty="0" smtClean="0"/>
              <a:t>Sample1-usingProviders</a:t>
            </a:r>
            <a:endParaRPr lang="en-US" sz="33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Verify method</a:t>
            </a:r>
          </a:p>
          <a:p>
            <a:endParaRPr lang="en-US" dirty="0"/>
          </a:p>
        </p:txBody>
      </p:sp>
      <p:pic>
        <p:nvPicPr>
          <p:cNvPr id="5" name="Picture 4" descr="usingprovider3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33400" y="2743200"/>
            <a:ext cx="8153400" cy="25812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300" dirty="0" smtClean="0"/>
              <a:t>Sample2-usingProvidersHelper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 smtClean="0"/>
              <a:t>This sample describes how to verify a signature without knowing which provider was used for signing.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sz="2700" dirty="0" smtClean="0"/>
              <a:t>The </a:t>
            </a:r>
            <a:r>
              <a:rPr lang="en-US" sz="2700" b="1" dirty="0" err="1" smtClean="0"/>
              <a:t>providerHelper</a:t>
            </a:r>
            <a:r>
              <a:rPr lang="en-US" sz="2700" dirty="0" smtClean="0"/>
              <a:t> service loads all </a:t>
            </a:r>
            <a:r>
              <a:rPr lang="en-US" sz="2700" dirty="0" err="1" smtClean="0"/>
              <a:t>cryptoProviders</a:t>
            </a:r>
            <a:r>
              <a:rPr lang="en-US" sz="2700" dirty="0" smtClean="0"/>
              <a:t> </a:t>
            </a:r>
            <a:r>
              <a:rPr lang="en-US" sz="2700" dirty="0" err="1" smtClean="0"/>
              <a:t>dlls</a:t>
            </a:r>
            <a:r>
              <a:rPr lang="en-US" sz="2700" dirty="0" smtClean="0"/>
              <a:t> from a specified directory and tries to verify signatures for each one of them.</a:t>
            </a:r>
          </a:p>
          <a:p>
            <a:pPr>
              <a:buNone/>
            </a:pPr>
            <a:r>
              <a:rPr lang="en-US" sz="2700" dirty="0" smtClean="0"/>
              <a:t>If no directory is specified , the </a:t>
            </a:r>
            <a:r>
              <a:rPr lang="en-US" sz="2700" dirty="0" err="1" smtClean="0"/>
              <a:t>providerHelper</a:t>
            </a:r>
            <a:r>
              <a:rPr lang="en-US" sz="2700" dirty="0" smtClean="0"/>
              <a:t> loads providers from the execution directory </a:t>
            </a:r>
          </a:p>
          <a:p>
            <a:pPr>
              <a:buNone/>
            </a:pPr>
            <a:r>
              <a:rPr lang="en-US" sz="2700" dirty="0" smtClean="0"/>
              <a:t>	(used if the providers are referenced)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300" dirty="0" smtClean="0"/>
              <a:t>Sample2-usingProvidersHelper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Verify method</a:t>
            </a:r>
          </a:p>
          <a:p>
            <a:pPr>
              <a:buNone/>
            </a:pPr>
            <a:endParaRPr lang="en-US" dirty="0" smtClean="0"/>
          </a:p>
        </p:txBody>
      </p:sp>
      <p:pic>
        <p:nvPicPr>
          <p:cNvPr id="5" name="Picture 4" descr="usingporvidershelper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52400" y="2438400"/>
            <a:ext cx="8724900" cy="3848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300" dirty="0" smtClean="0"/>
              <a:t>Sample3-capicomCompatibility</a:t>
            </a:r>
            <a:endParaRPr lang="en-US" sz="33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This sample show the compatibility of the PKCS7 provider with </a:t>
            </a:r>
            <a:r>
              <a:rPr lang="en-US" dirty="0" err="1" smtClean="0"/>
              <a:t>Capicom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Signing a file with </a:t>
            </a:r>
            <a:r>
              <a:rPr lang="en-US" dirty="0" err="1" smtClean="0"/>
              <a:t>Capicom</a:t>
            </a:r>
            <a:r>
              <a:rPr lang="en-US" dirty="0" smtClean="0"/>
              <a:t> and verify it with the crypto provider.</a:t>
            </a:r>
          </a:p>
          <a:p>
            <a:r>
              <a:rPr lang="en-US" dirty="0" smtClean="0"/>
              <a:t>Select a signed file(by </a:t>
            </a:r>
            <a:r>
              <a:rPr lang="en-US" dirty="0" err="1" smtClean="0"/>
              <a:t>Capicom</a:t>
            </a:r>
            <a:r>
              <a:rPr lang="en-US" dirty="0" smtClean="0"/>
              <a:t> or by the PKCS7 provider) and verify it with </a:t>
            </a:r>
            <a:r>
              <a:rPr lang="en-US" dirty="0" err="1" smtClean="0"/>
              <a:t>Capicom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300" dirty="0" smtClean="0"/>
              <a:t>Sample4 - </a:t>
            </a:r>
            <a:r>
              <a:rPr lang="en-US" sz="3300" dirty="0" err="1" smtClean="0"/>
              <a:t>usingSignPanel</a:t>
            </a:r>
            <a:endParaRPr lang="en-US" sz="33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pPr>
              <a:buNone/>
            </a:pPr>
            <a:r>
              <a:rPr lang="en-US" dirty="0" smtClean="0"/>
              <a:t>This web site contains a page with a </a:t>
            </a:r>
            <a:r>
              <a:rPr lang="en-US" dirty="0" err="1" smtClean="0"/>
              <a:t>SignPanel</a:t>
            </a:r>
            <a:r>
              <a:rPr lang="en-US" dirty="0" smtClean="0"/>
              <a:t> and does the following:</a:t>
            </a:r>
          </a:p>
          <a:p>
            <a:r>
              <a:rPr lang="en-US" dirty="0" smtClean="0"/>
              <a:t>Sign the panel content at the client</a:t>
            </a:r>
          </a:p>
          <a:p>
            <a:r>
              <a:rPr lang="en-US" dirty="0" err="1" smtClean="0"/>
              <a:t>AutopostBack</a:t>
            </a:r>
            <a:r>
              <a:rPr lang="en-US" dirty="0" smtClean="0"/>
              <a:t> to the server on signature completion</a:t>
            </a:r>
          </a:p>
          <a:p>
            <a:r>
              <a:rPr lang="en-US" dirty="0" smtClean="0"/>
              <a:t>Verify the signature and the content integrity at the server</a:t>
            </a:r>
          </a:p>
          <a:p>
            <a:r>
              <a:rPr lang="en-US" dirty="0" smtClean="0"/>
              <a:t>Save the signed file </a:t>
            </a:r>
          </a:p>
          <a:p>
            <a:r>
              <a:rPr lang="en-US" dirty="0" smtClean="0"/>
              <a:t>Display the -certificate </a:t>
            </a:r>
            <a:r>
              <a:rPr lang="en-US" dirty="0" err="1" smtClean="0"/>
              <a:t>subjectName</a:t>
            </a:r>
            <a:r>
              <a:rPr lang="en-US" dirty="0" smtClean="0"/>
              <a:t>- used for signing</a:t>
            </a:r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300" dirty="0" smtClean="0"/>
              <a:t>Sample4-usingSignPanel</a:t>
            </a:r>
            <a:endParaRPr lang="en-US" sz="33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Server side code</a:t>
            </a:r>
            <a:endParaRPr lang="en-US" dirty="0"/>
          </a:p>
        </p:txBody>
      </p:sp>
      <p:pic>
        <p:nvPicPr>
          <p:cNvPr id="5" name="Picture 4" descr="usingsignpanel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57200" y="2362200"/>
            <a:ext cx="8058150" cy="326707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שימוש דרך </a:t>
            </a:r>
            <a:r>
              <a:rPr lang="en-US" dirty="0"/>
              <a:t>command </a:t>
            </a:r>
            <a:r>
              <a:rPr lang="en-US" dirty="0" smtClean="0"/>
              <a:t>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dirty="0" smtClean="0"/>
              <a:t>גירסה 3 של </a:t>
            </a:r>
            <a:r>
              <a:rPr lang="en-US" dirty="0" smtClean="0"/>
              <a:t>SV</a:t>
            </a:r>
            <a:r>
              <a:rPr lang="he-IL" dirty="0" smtClean="0"/>
              <a:t> מאפשרת הרצה דרך </a:t>
            </a:r>
            <a:r>
              <a:rPr lang="en-US" dirty="0" smtClean="0"/>
              <a:t>CL</a:t>
            </a:r>
            <a:r>
              <a:rPr lang="he-IL" dirty="0" smtClean="0"/>
              <a:t> על ידי תוכנת משתמש הקצה כמוסבר בהמשך</a:t>
            </a:r>
          </a:p>
          <a:p>
            <a:pPr algn="r" rtl="1"/>
            <a:r>
              <a:rPr lang="he-IL" dirty="0" smtClean="0"/>
              <a:t>מיועד למיכון תהליכי חתימה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8561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he-IL" dirty="0"/>
              <a:t>שימוש דרך </a:t>
            </a:r>
            <a:r>
              <a:rPr lang="en-US" dirty="0"/>
              <a:t>command line</a:t>
            </a:r>
            <a:endParaRPr lang="he-IL" dirty="0"/>
          </a:p>
          <a:p>
            <a:endParaRPr lang="he-IL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323527" y="1484784"/>
            <a:ext cx="8424937" cy="4752528"/>
          </a:xfrm>
        </p:spPr>
        <p:txBody>
          <a:bodyPr/>
          <a:lstStyle/>
          <a:p>
            <a:r>
              <a:rPr lang="he-IL" dirty="0" smtClean="0"/>
              <a:t>הרצת פקודה </a:t>
            </a:r>
            <a:r>
              <a:rPr lang="en-US" dirty="0" smtClean="0"/>
              <a:t>SignVerify.exe</a:t>
            </a:r>
            <a:r>
              <a:rPr lang="he-IL" dirty="0" smtClean="0"/>
              <a:t> </a:t>
            </a:r>
            <a:r>
              <a:rPr lang="he-IL" dirty="0" smtClean="0"/>
              <a:t>תבצע חתימה על פי הפרמטרים שנמסרו.</a:t>
            </a:r>
          </a:p>
          <a:p>
            <a:pPr lvl="1"/>
            <a:r>
              <a:rPr lang="he-IL" dirty="0" smtClean="0"/>
              <a:t>פרמטר ראשון (חובה) : </a:t>
            </a:r>
            <a:r>
              <a:rPr lang="he-IL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מיקום קובץ המקור</a:t>
            </a:r>
            <a:r>
              <a:rPr lang="he-IL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</a:p>
          <a:p>
            <a:pPr lvl="2"/>
            <a:r>
              <a:rPr lang="he-IL" dirty="0" smtClean="0"/>
              <a:t>יכול להיות קובץ, תיקייה או </a:t>
            </a:r>
            <a:r>
              <a:rPr lang="en-US" dirty="0" smtClean="0"/>
              <a:t>URL</a:t>
            </a:r>
            <a:r>
              <a:rPr lang="he-IL" dirty="0" smtClean="0"/>
              <a:t> לאתר כמו </a:t>
            </a:r>
            <a:r>
              <a:rPr lang="en-US" dirty="0" err="1" smtClean="0"/>
              <a:t>Sharepoint</a:t>
            </a:r>
            <a:endParaRPr lang="he-IL" dirty="0" smtClean="0"/>
          </a:p>
          <a:p>
            <a:pPr lvl="1"/>
            <a:r>
              <a:rPr lang="he-IL" dirty="0" smtClean="0"/>
              <a:t>הפרמטר השני (לא חובה) : </a:t>
            </a:r>
            <a:r>
              <a:rPr lang="he-IL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יעד הקובץ החתום.</a:t>
            </a:r>
            <a:r>
              <a:rPr lang="he-IL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 lvl="2"/>
            <a:r>
              <a:rPr lang="he-IL" dirty="0" smtClean="0"/>
              <a:t>יכול </a:t>
            </a:r>
            <a:r>
              <a:rPr lang="he-IL" dirty="0"/>
              <a:t>להיות </a:t>
            </a:r>
            <a:r>
              <a:rPr lang="he-IL" dirty="0" smtClean="0"/>
              <a:t>קובץ, </a:t>
            </a:r>
            <a:r>
              <a:rPr lang="he-IL" dirty="0"/>
              <a:t>תיקייה או </a:t>
            </a:r>
            <a:r>
              <a:rPr lang="en-US" dirty="0" smtClean="0"/>
              <a:t>URL</a:t>
            </a:r>
            <a:r>
              <a:rPr lang="he-IL" dirty="0" smtClean="0"/>
              <a:t>.ניתן גם להציג מסך בחירת תיקייה עם פרמטר </a:t>
            </a:r>
            <a:r>
              <a:rPr lang="en-US" dirty="0" smtClean="0"/>
              <a:t>\</a:t>
            </a:r>
            <a:r>
              <a:rPr lang="en-US" dirty="0" err="1" smtClean="0"/>
              <a:t>dd</a:t>
            </a:r>
            <a:r>
              <a:rPr lang="he-IL" dirty="0" smtClean="0"/>
              <a:t>. במידה ולא קיים, הקובץ נוצר בספריית המקור.</a:t>
            </a:r>
            <a:endParaRPr lang="en-US" dirty="0" smtClean="0"/>
          </a:p>
          <a:p>
            <a:pPr lvl="1"/>
            <a:r>
              <a:rPr lang="he-IL" dirty="0" smtClean="0"/>
              <a:t>הפרמטר השלישי (לא חובה) :</a:t>
            </a:r>
            <a:r>
              <a:rPr lang="he-IL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שם ה </a:t>
            </a:r>
            <a:r>
              <a:rPr lang="en-US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certificate</a:t>
            </a:r>
            <a:r>
              <a:rPr lang="he-IL" dirty="0" smtClean="0"/>
              <a:t>.</a:t>
            </a:r>
          </a:p>
          <a:p>
            <a:pPr lvl="2"/>
            <a:r>
              <a:rPr lang="he-IL" dirty="0" smtClean="0"/>
              <a:t>מופיע אחרי הסימון </a:t>
            </a:r>
            <a:r>
              <a:rPr lang="en-US" dirty="0" smtClean="0"/>
              <a:t>-</a:t>
            </a:r>
            <a:r>
              <a:rPr lang="en-US" dirty="0" err="1" smtClean="0"/>
              <a:t>cer</a:t>
            </a:r>
            <a:endParaRPr lang="he-IL" dirty="0" smtClean="0"/>
          </a:p>
          <a:p>
            <a:pPr lvl="2"/>
            <a:r>
              <a:rPr lang="he-IL" dirty="0" smtClean="0"/>
              <a:t>ניתן גם לרשום בקובץ קונפיגורציה. במידה ולא קיים, יוצג מסך בחירת </a:t>
            </a:r>
            <a:r>
              <a:rPr lang="en-US" dirty="0" smtClean="0"/>
              <a:t>certificate</a:t>
            </a:r>
            <a:r>
              <a:rPr lang="he-IL" dirty="0" smtClean="0"/>
              <a:t> במקרה של מספר תעודות או ישירות לחתימה במקרה של תעודה אחת.</a:t>
            </a:r>
            <a:endParaRPr lang="he-IL" dirty="0"/>
          </a:p>
          <a:p>
            <a:pPr lvl="1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401528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he-IL" dirty="0" smtClean="0"/>
              <a:t>דוגמא 1- </a:t>
            </a:r>
          </a:p>
          <a:p>
            <a:r>
              <a:rPr lang="he-IL" dirty="0" smtClean="0"/>
              <a:t>חתימה על קובץ עם תעודה מוגדרת</a:t>
            </a:r>
            <a:endParaRPr lang="he-IL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0" y="1484784"/>
            <a:ext cx="9036495" cy="4465166"/>
          </a:xfrm>
        </p:spPr>
        <p:txBody>
          <a:bodyPr/>
          <a:lstStyle/>
          <a:p>
            <a:r>
              <a:rPr lang="he-IL" dirty="0" smtClean="0"/>
              <a:t>הרצת פקודת :</a:t>
            </a:r>
          </a:p>
          <a:p>
            <a:pPr marL="457200" lvl="1" indent="0" algn="l">
              <a:buNone/>
            </a:pPr>
            <a:endParaRPr lang="he-IL" dirty="0" smtClean="0"/>
          </a:p>
          <a:p>
            <a:pPr marL="457200" lvl="1" indent="0" algn="l">
              <a:buNone/>
            </a:pPr>
            <a:r>
              <a:rPr lang="en-US" sz="2400" b="1" u="sng" spc="3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SignVerify</a:t>
            </a:r>
            <a:r>
              <a:rPr lang="en-US" sz="2400" b="1" u="sng" spc="3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u="sng" spc="3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d:\files\1.txt –</a:t>
            </a:r>
            <a:r>
              <a:rPr lang="en-US" sz="2400" b="1" u="sng" spc="3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cer</a:t>
            </a:r>
            <a:r>
              <a:rPr lang="en-US" sz="2400" b="1" u="sng" spc="3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u="sng" spc="3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TEHILA\user1</a:t>
            </a:r>
            <a:endParaRPr lang="en-US" sz="2400" b="1" u="sng" spc="3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lvl="1" indent="0">
              <a:buNone/>
            </a:pPr>
            <a:endParaRPr lang="en-US" dirty="0" smtClean="0"/>
          </a:p>
          <a:p>
            <a:pPr marL="457200" lvl="1" indent="0">
              <a:buNone/>
            </a:pPr>
            <a:r>
              <a:rPr lang="he-IL" dirty="0" smtClean="0"/>
              <a:t>חותם על הקובץ </a:t>
            </a:r>
            <a:r>
              <a:rPr lang="en-US" dirty="0" smtClean="0"/>
              <a:t>TXT</a:t>
            </a:r>
            <a:r>
              <a:rPr lang="he-IL" dirty="0" smtClean="0"/>
              <a:t>.1 עם ה </a:t>
            </a:r>
            <a:r>
              <a:rPr lang="en-US" dirty="0" smtClean="0"/>
              <a:t>certificate</a:t>
            </a:r>
            <a:r>
              <a:rPr lang="he-IL" dirty="0" smtClean="0"/>
              <a:t> </a:t>
            </a:r>
            <a:r>
              <a:rPr lang="en-US" dirty="0" smtClean="0"/>
              <a:t>TEHILA\user1</a:t>
            </a:r>
            <a:r>
              <a:rPr lang="he-IL" dirty="0" smtClean="0"/>
              <a:t> </a:t>
            </a:r>
            <a:r>
              <a:rPr lang="he-IL" dirty="0" smtClean="0"/>
              <a:t>ושומר את הקובץ החתום באותה תיקייה בשם </a:t>
            </a:r>
            <a:r>
              <a:rPr lang="en-US" dirty="0"/>
              <a:t>d</a:t>
            </a:r>
            <a:r>
              <a:rPr lang="en-US" dirty="0" smtClean="0"/>
              <a:t>:\1.signed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898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he-IL" dirty="0" smtClean="0"/>
              <a:t>דוגמא 2-</a:t>
            </a:r>
          </a:p>
          <a:p>
            <a:r>
              <a:rPr lang="he-IL" dirty="0" smtClean="0"/>
              <a:t>חתימה על תכולת תיקייה</a:t>
            </a:r>
            <a:endParaRPr lang="he-IL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107504" y="1484784"/>
            <a:ext cx="9036496" cy="4465166"/>
          </a:xfrm>
        </p:spPr>
        <p:txBody>
          <a:bodyPr/>
          <a:lstStyle/>
          <a:p>
            <a:r>
              <a:rPr lang="he-IL" dirty="0"/>
              <a:t>הרצת פקודת :</a:t>
            </a:r>
          </a:p>
          <a:p>
            <a:pPr marL="457200" lvl="1" indent="0" algn="l">
              <a:buNone/>
            </a:pPr>
            <a:endParaRPr lang="he-IL" dirty="0"/>
          </a:p>
          <a:p>
            <a:pPr marL="457200" lvl="1" indent="0" algn="l">
              <a:buNone/>
            </a:pPr>
            <a:r>
              <a:rPr lang="he-IL" b="1" u="sng" spc="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u="sng" spc="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SignVerify</a:t>
            </a:r>
            <a:r>
              <a:rPr lang="en-US" b="1" u="sng" spc="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u="sng" spc="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d:\files d:\SFiles</a:t>
            </a:r>
          </a:p>
          <a:p>
            <a:pPr marL="457200" lvl="1" indent="0" algn="l">
              <a:buNone/>
            </a:pPr>
            <a:endParaRPr lang="en-US" dirty="0" smtClean="0"/>
          </a:p>
          <a:p>
            <a:pPr marL="457200" lvl="1" indent="0">
              <a:buNone/>
            </a:pPr>
            <a:r>
              <a:rPr lang="he-IL" dirty="0" smtClean="0"/>
              <a:t>מציג מסך בחירת </a:t>
            </a:r>
            <a:r>
              <a:rPr lang="en-US" dirty="0" smtClean="0"/>
              <a:t>certificate </a:t>
            </a:r>
            <a:r>
              <a:rPr lang="he-IL" dirty="0" smtClean="0"/>
              <a:t> וחותם על כל הקבצים שנמצאים בתיקייה  </a:t>
            </a:r>
            <a:r>
              <a:rPr lang="en-US" dirty="0" smtClean="0"/>
              <a:t>d:/files</a:t>
            </a:r>
            <a:r>
              <a:rPr lang="he-IL" dirty="0" smtClean="0"/>
              <a:t>.</a:t>
            </a:r>
          </a:p>
          <a:p>
            <a:pPr marL="457200" lvl="1" indent="0">
              <a:buNone/>
            </a:pPr>
            <a:r>
              <a:rPr lang="he-IL" dirty="0" smtClean="0"/>
              <a:t>הקבצים החתומים יישמרו בתיקייה </a:t>
            </a:r>
            <a:r>
              <a:rPr lang="en-US" dirty="0" smtClean="0"/>
              <a:t>d:\Sfiles </a:t>
            </a:r>
            <a:endParaRPr lang="he-IL" dirty="0" smtClean="0"/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540787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he-IL" dirty="0" smtClean="0"/>
              <a:t>דוגמא 3</a:t>
            </a:r>
          </a:p>
          <a:p>
            <a:r>
              <a:rPr lang="he-IL" dirty="0" smtClean="0"/>
              <a:t>חתימה על קובץ מאתר אינטרנט</a:t>
            </a:r>
            <a:endParaRPr lang="he-IL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0" y="1484784"/>
            <a:ext cx="9036495" cy="4465166"/>
          </a:xfrm>
        </p:spPr>
        <p:txBody>
          <a:bodyPr/>
          <a:lstStyle/>
          <a:p>
            <a:r>
              <a:rPr lang="he-IL" dirty="0" smtClean="0"/>
              <a:t>הרצת פקודת :</a:t>
            </a:r>
          </a:p>
          <a:p>
            <a:pPr marL="457200" lvl="1" indent="0" algn="l">
              <a:buNone/>
            </a:pPr>
            <a:endParaRPr lang="he-IL" dirty="0" smtClean="0"/>
          </a:p>
          <a:p>
            <a:pPr marL="457200" lvl="1" indent="0" algn="l">
              <a:buNone/>
            </a:pPr>
            <a:r>
              <a:rPr lang="en-US" sz="2800" b="1" u="sng" spc="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SignVerify</a:t>
            </a:r>
            <a:r>
              <a:rPr lang="en-US" sz="2800" b="1" u="sng" spc="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b="1" u="sng" spc="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http://</a:t>
            </a:r>
            <a:r>
              <a:rPr lang="en-US" sz="2800" b="1" u="sng" spc="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localhost/welcome.png </a:t>
            </a:r>
            <a:r>
              <a:rPr lang="en-US" sz="2800" b="1" u="sng" spc="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</a:t>
            </a:r>
            <a:r>
              <a:rPr lang="en-US" sz="2800" b="1" u="sng" spc="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dd</a:t>
            </a:r>
            <a:r>
              <a:rPr lang="en-US" sz="2800" b="1" u="sng" spc="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-</a:t>
            </a:r>
            <a:r>
              <a:rPr lang="en-US" sz="2800" b="1" u="sng" spc="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cer</a:t>
            </a:r>
            <a:r>
              <a:rPr lang="en-US" sz="2800" b="1" u="sng" spc="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b="1" u="sng" spc="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TEHILA\User1</a:t>
            </a:r>
            <a:endParaRPr lang="en-US" sz="2800" b="1" u="sng" spc="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lvl="1" indent="0">
              <a:buNone/>
            </a:pPr>
            <a:endParaRPr lang="en-US" dirty="0" smtClean="0"/>
          </a:p>
          <a:p>
            <a:pPr marL="457200" lvl="1" indent="0">
              <a:buNone/>
            </a:pPr>
            <a:r>
              <a:rPr lang="he-IL" dirty="0" smtClean="0"/>
              <a:t>מוריד את הקובץ </a:t>
            </a:r>
            <a:r>
              <a:rPr lang="en-US" dirty="0"/>
              <a:t>welcome.png</a:t>
            </a:r>
            <a:r>
              <a:rPr lang="he-IL" dirty="0" smtClean="0"/>
              <a:t> חותם עליו עם ה </a:t>
            </a:r>
            <a:r>
              <a:rPr lang="en-US" dirty="0" smtClean="0"/>
              <a:t>certificate</a:t>
            </a:r>
            <a:r>
              <a:rPr lang="he-IL" dirty="0" smtClean="0"/>
              <a:t> </a:t>
            </a:r>
            <a:r>
              <a:rPr lang="en-US" dirty="0" smtClean="0"/>
              <a:t>TEHILA\User1</a:t>
            </a:r>
            <a:r>
              <a:rPr lang="he-IL" dirty="0" smtClean="0"/>
              <a:t> </a:t>
            </a:r>
            <a:r>
              <a:rPr lang="he-IL" dirty="0" smtClean="0"/>
              <a:t>ושומר את הקובץ החתום על פי בחירת המשתמש במסך בחירת יעד.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146630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he-IL" dirty="0" smtClean="0"/>
              <a:t>דוגמא 4- </a:t>
            </a:r>
          </a:p>
          <a:p>
            <a:r>
              <a:rPr lang="he-IL" dirty="0" smtClean="0"/>
              <a:t>חתימה עם פרמטרים מינימאליים</a:t>
            </a:r>
            <a:endParaRPr lang="he-IL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0" y="1484784"/>
            <a:ext cx="9036495" cy="4465166"/>
          </a:xfrm>
        </p:spPr>
        <p:txBody>
          <a:bodyPr/>
          <a:lstStyle/>
          <a:p>
            <a:r>
              <a:rPr lang="he-IL" dirty="0" smtClean="0"/>
              <a:t>הרצת פקודת :</a:t>
            </a:r>
          </a:p>
          <a:p>
            <a:pPr marL="457200" lvl="1" indent="0" algn="l">
              <a:buNone/>
            </a:pPr>
            <a:endParaRPr lang="he-IL" dirty="0" smtClean="0"/>
          </a:p>
          <a:p>
            <a:pPr marL="457200" lvl="1" indent="0" algn="l">
              <a:buNone/>
            </a:pPr>
            <a:r>
              <a:rPr lang="en-US" sz="2400" b="1" u="sng" spc="3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SignVerify</a:t>
            </a:r>
            <a:r>
              <a:rPr lang="en-US" sz="2400" b="1" u="sng" spc="3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u="sng" spc="3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d:\files\1.txt</a:t>
            </a:r>
          </a:p>
          <a:p>
            <a:pPr marL="457200" lvl="1" indent="0">
              <a:buNone/>
            </a:pPr>
            <a:endParaRPr lang="en-US" dirty="0" smtClean="0"/>
          </a:p>
          <a:p>
            <a:pPr marL="457200" lvl="1" indent="0">
              <a:buNone/>
            </a:pPr>
            <a:r>
              <a:rPr lang="he-IL" dirty="0" smtClean="0"/>
              <a:t>חותם על הקובץ </a:t>
            </a:r>
            <a:r>
              <a:rPr lang="en-US" dirty="0" smtClean="0"/>
              <a:t>TXT</a:t>
            </a:r>
            <a:r>
              <a:rPr lang="he-IL" dirty="0" smtClean="0"/>
              <a:t>.1 עם התעודה המחוברת למחשב ושומר את הקובץ החתום באותה תיקייה בשם </a:t>
            </a:r>
            <a:r>
              <a:rPr lang="en-US" dirty="0"/>
              <a:t>d</a:t>
            </a:r>
            <a:r>
              <a:rPr lang="en-US" dirty="0" smtClean="0"/>
              <a:t>:\1.signed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82067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he-IL" dirty="0" smtClean="0"/>
              <a:t>תודה רבה - צוות ממשל זמין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dirty="0" smtClean="0"/>
              <a:t>יואב קרומבי </a:t>
            </a:r>
          </a:p>
          <a:p>
            <a:pPr lvl="1" algn="r" rtl="1">
              <a:buFont typeface="Arial" pitchFamily="34" charset="0"/>
              <a:buChar char="•"/>
            </a:pPr>
            <a:r>
              <a:rPr lang="en-US" dirty="0" smtClean="0"/>
              <a:t>yoavc@gov.il</a:t>
            </a:r>
            <a:endParaRPr lang="en-US" dirty="0" smtClean="0"/>
          </a:p>
          <a:p>
            <a:pPr lvl="1" algn="r" rtl="1">
              <a:buFont typeface="Arial" pitchFamily="34" charset="0"/>
              <a:buChar char="•"/>
            </a:pPr>
            <a:r>
              <a:rPr lang="he-IL" dirty="0" smtClean="0"/>
              <a:t>026664629</a:t>
            </a:r>
            <a:endParaRPr lang="he-IL" dirty="0" smtClean="0"/>
          </a:p>
          <a:p>
            <a:pPr lvl="1" algn="r" rtl="1">
              <a:buNone/>
            </a:pPr>
            <a:endParaRPr lang="he-IL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תבנית לממשלה">
  <a:themeElements>
    <a:clrScheme name="עיצוב ברירת מחדל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עיצוב ברירת מחדל">
      <a:majorFont>
        <a:latin typeface="Arial Black"/>
        <a:ea typeface=""/>
        <a:cs typeface="Times New Roman (Hebrew)"/>
      </a:majorFont>
      <a:minorFont>
        <a:latin typeface="Arial Narrow"/>
        <a:ea typeface=""/>
        <a:cs typeface="Times New Roman (Hebrew)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anchor="t" compatLnSpc="1"/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har char="•"/>
          <a:tabLst/>
          <a:defRPr kumimoji="0" lang="he-IL" sz="1800" b="0" i="0" u="none" strike="noStrike" baseline="0">
            <a:solidFill>
              <a:srgbClr val="003366">
                <a:alpha val="100000"/>
              </a:srgbClr>
            </a:solidFill>
            <a:effectLst/>
            <a:latin typeface="Arial"/>
            <a:cs typeface="Arial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anchor="t" compatLnSpc="1"/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har char="•"/>
          <a:tabLst/>
          <a:defRPr kumimoji="0" lang="he-IL" sz="1800" b="0" i="0" u="none" strike="noStrike" baseline="0">
            <a:solidFill>
              <a:srgbClr val="003366">
                <a:alpha val="100000"/>
              </a:srgbClr>
            </a:solidFill>
            <a:effectLst/>
            <a:latin typeface="Arial"/>
            <a:cs typeface="Arial"/>
          </a:defRPr>
        </a:defPPr>
      </a:lstStyle>
    </a:lnDef>
  </a:objectDefaults>
  <a:extraClrSchemeLst>
    <a:extraClrScheme>
      <a:clrScheme name="עיצוב ברירת מחדל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עיצוב ברירת מחדל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עיצוב ברירת מחדל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עיצוב ברירת מחדל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עיצוב ברירת מחדל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עיצוב ברירת מחדל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עיצוב ברירת מחדל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עיצוב ברירת מחדל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עיצוב ברירת מחדל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עיצוב ברירת מחדל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עיצוב ברירת מחדל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עיצוב ברירת מחדל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תבנית לממשלה</Template>
  <TotalTime>222</TotalTime>
  <Words>1311</Words>
  <Application>Microsoft Office PowerPoint</Application>
  <PresentationFormat>On-screen Show (4:3)</PresentationFormat>
  <Paragraphs>229</Paragraphs>
  <Slides>37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4" baseType="lpstr">
      <vt:lpstr>Arial</vt:lpstr>
      <vt:lpstr>Arial Black</vt:lpstr>
      <vt:lpstr>Arial Narrow</vt:lpstr>
      <vt:lpstr>Calibri</vt:lpstr>
      <vt:lpstr>Tahoma</vt:lpstr>
      <vt:lpstr>Times New Roman (Hebrew)</vt:lpstr>
      <vt:lpstr>תבנית לממשלה</vt:lpstr>
      <vt:lpstr>PowerPoint Presentation</vt:lpstr>
      <vt:lpstr>תוכן</vt:lpstr>
      <vt:lpstr>רקע</vt:lpstr>
      <vt:lpstr>רקע- המשך</vt:lpstr>
      <vt:lpstr>עיקרי השנוי בגרסה החדשה</vt:lpstr>
      <vt:lpstr>Digital signature introduction</vt:lpstr>
      <vt:lpstr>Signing process</vt:lpstr>
      <vt:lpstr>Verifying process</vt:lpstr>
      <vt:lpstr>Reasons for Invalid Signatures</vt:lpstr>
      <vt:lpstr>Certificate validations(optional)</vt:lpstr>
      <vt:lpstr>Sign &amp; Verify SDK</vt:lpstr>
      <vt:lpstr> installation</vt:lpstr>
      <vt:lpstr>Sign &amp; Verify SDK - Content</vt:lpstr>
      <vt:lpstr>Architecture</vt:lpstr>
      <vt:lpstr> SignVerify.Common – Providers interfaces </vt:lpstr>
      <vt:lpstr>SignVerify.Common – Crypto objects</vt:lpstr>
      <vt:lpstr> SignVerify.Common – S&amp;V options</vt:lpstr>
      <vt:lpstr> SignVerify.Common – Services</vt:lpstr>
      <vt:lpstr>Providers</vt:lpstr>
      <vt:lpstr>SignVerify.Web-Services</vt:lpstr>
      <vt:lpstr>SignVerify.Web.UI-SignPanel</vt:lpstr>
      <vt:lpstr>Samples</vt:lpstr>
      <vt:lpstr>Sample1-usingProviders</vt:lpstr>
      <vt:lpstr>Sample1-usingProviders</vt:lpstr>
      <vt:lpstr>Sample1-usingProviders</vt:lpstr>
      <vt:lpstr>Sample2-usingProvidersHelper</vt:lpstr>
      <vt:lpstr>Sample2-usingProvidersHelper</vt:lpstr>
      <vt:lpstr>Sample3-capicomCompatibility</vt:lpstr>
      <vt:lpstr>Sample4 - usingSignPanel</vt:lpstr>
      <vt:lpstr>Sample4-usingSignPanel</vt:lpstr>
      <vt:lpstr>שימוש דרך command 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תודה רבה - צוות ממשל זמין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yoav</dc:creator>
  <cp:lastModifiedBy>Pavel Mazer</cp:lastModifiedBy>
  <cp:revision>32</cp:revision>
  <dcterms:created xsi:type="dcterms:W3CDTF">2009-09-16T11:33:14Z</dcterms:created>
  <dcterms:modified xsi:type="dcterms:W3CDTF">2015-04-26T13:38:19Z</dcterms:modified>
</cp:coreProperties>
</file>